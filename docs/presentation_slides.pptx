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ns0:Relationships xmlns:ns0="http://schemas.openxmlformats.org/package/2006/relationships"><ns0:Relationship Id="rId1" Type="http://schemas.openxmlformats.org/officeDocument/2006/relationships/officeDocument" Target="ppt/presentation.xml"></ns0:Relationship><ns0:Relationship Id="rId2" Type="http://schemas.openxmlformats.org/package/2006/relationships/metadata/core-properties" Target="docProps/core.xml"></ns0:Relationship><ns0:Relationship Id="rId3" Type="http://schemas.openxmlformats.org/officeDocument/2006/relationships/extended-properties" Target="docProps/app.xml"></ns0:Relationship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/>
</p:presentation>
</file>

<file path=ppt/_rels/presentation.xml.rels><?xml version="1.0" encoding="UTF-8" standalone="yes"?>
<ns0:Relationships xmlns:ns0="http://schemas.openxmlformats.org/package/2006/relationships"><ns0:Relationship Id="rId1" Type="http://schemas.openxmlformats.org/officeDocument/2006/relationships/slideMaster" Target="slideMasters/slideMaster1.xml"></ns0:Relationship><ns0:Relationship Id="rId2" Type="http://schemas.openxmlformats.org/officeDocument/2006/relationships/slide" Target="slides/slide1.xml"></ns0:Relationship><ns0:Relationship Id="rId3" Type="http://schemas.openxmlformats.org/officeDocument/2006/relationships/slide" Target="slides/slide2.xml"></ns0:Relationship><ns0:Relationship Id="rId4" Type="http://schemas.openxmlformats.org/officeDocument/2006/relationships/slide" Target="slides/slide3.xml"></ns0:Relationship><ns0:Relationship Id="rId5" Type="http://schemas.openxmlformats.org/officeDocument/2006/relationships/slide" Target="slides/slide4.xml"></ns0:Relationship><ns0:Relationship Id="rId6" Type="http://schemas.openxmlformats.org/officeDocument/2006/relationships/slide" Target="slides/slide5.xml"></ns0:Relationship><ns0:Relationship Id="rId7" Type="http://schemas.openxmlformats.org/officeDocument/2006/relationships/slide" Target="slides/slide6.xml"></ns0:Relationship><ns0:Relationship Id="rId8" Type="http://schemas.openxmlformats.org/officeDocument/2006/relationships/slide" Target="slides/slide7.xml"></ns0:Relationship><ns0:Relationship Id="rId9" Type="http://schemas.openxmlformats.org/officeDocument/2006/relationships/slide" Target="slides/slide8.xml"></ns0:Relationship><ns0:Relationship Id="rId10" Type="http://schemas.openxmlformats.org/officeDocument/2006/relationships/slide" Target="slides/slide9.xml"></ns0:Relationship><ns0:Relationship Id="rId11" Type="http://schemas.openxmlformats.org/officeDocument/2006/relationships/slide" Target="slides/slide10.xml"></ns0:Relationship><ns0:Relationship Id="rId12" Type="http://schemas.openxmlformats.org/officeDocument/2006/relationships/slide" Target="slides/slide11.xml"></ns0:Relationship></ns0:Relationships>
</file>

<file path=ppt/slideLayouts/_rels/slideLayout1.xml.rels><?xml version="1.0" encoding="UTF-8" standalone="yes"?>
<ns0:Relationships xmlns:ns0="http://schemas.openxmlformats.org/package/2006/relationships"><ns0:Relationship Id="rId1" Type="http://schemas.openxmlformats.org/officeDocument/2006/relationships/slideMaster" Target="../slideMasters/slideMaster1.xml"></ns0:Relationship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ns0:Relationship Id="rId2" Type="http://schemas.openxmlformats.org/officeDocument/2006/relationships/theme" Target="../theme/theme1.xml"></ns0:Relationship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1 Analytic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clrMap bg1="lt1" tx1="dk1" bg2="lt2" tx2="dk2" accent1="accent1" accent2="accent2" accent3="accent3" accent4="accent4" accent5="accent5" accent6="accent6" hlink="hlink" folHlink="folHlink"/>
  <p:txStyles>
    <p:titleStyle/>
    <p:bodyStyle/>
    <p:otherStyle/>
  </p:txStyles>
</p:sldMaster>
</file>

<file path=ppt/slides/_rels/slide1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2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3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4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5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6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7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8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9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10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_rels/slide11.xml.rels><?xml version="1.0" encoding="UTF-8" standalone="yes"?>
<ns0:Relationships xmlns:ns0="http://schemas.openxmlformats.org/package/2006/relationships"><ns0:Relationship Id="rId1" Type="http://schemas.openxmlformats.org/officeDocument/2006/relationships/slideLayout" Target="../slideLayouts/slideLayout1.xml"></ns0:Relationship></ns0:Relationships>
</file>

<file path=ppt/slides/slide1.xml><?xml version="1.0" encoding="utf-8"?>
<p:sld xmlns:a="http://schemas.openxmlformats.org/drawingml/2006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914400" y="3733800"/>
            <a:ext cx="18034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946400" y="3733800"/>
            <a:ext cx="18034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978400" y="3733800"/>
            <a:ext cx="18034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010400" y="3733800"/>
            <a:ext cx="18034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9042400" y="3733800"/>
            <a:ext cx="18034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017000" y="1727200"/>
            <a:ext cx="2032000" cy="1625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12" name="Connector 12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01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" y="1303846"/>
            <a:ext cx="11176000" cy="82677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4200" b="1" dirty="0">
                <a:solidFill>
                  <a:srgbClr val="F2F5FA"/>
                </a:solidFill>
                <a:latin typeface="Arial"/>
                <a:cs typeface="Arial"/>
              </a:rPr>
              <a:t>F1 Analytics API</a:t>
            </a:r>
            <a:endParaRPr lang="en-US" sz="4200" dirty="0">
              <a:latin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" y="2147094"/>
            <a:ext cx="11176000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500" b="1" dirty="0">
                <a:solidFill>
                  <a:srgbClr val="E10600"/>
                </a:solidFill>
                <a:latin typeface="Arial"/>
                <a:cs typeface="Arial"/>
              </a:rPr>
              <a:t>Presentation Slides</a:t>
            </a:r>
            <a:endParaRPr lang="en-US" sz="2500" dirty="0">
              <a:latin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400" y="2797016"/>
            <a:ext cx="111760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0" dirty="0">
                <a:solidFill>
                  <a:srgbClr val="A6ADBD"/>
                </a:solidFill>
                <a:latin typeface="Arial"/>
                <a:cs typeface="Arial"/>
              </a:rPr>
              <a:t>A RESTful Formula 1 data platform with a single FastAPI core, plus a thin Django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" y="3063716"/>
            <a:ext cx="111760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0" dirty="0">
                <a:solidFill>
                  <a:srgbClr val="A6ADBD"/>
                </a:solidFill>
                <a:latin typeface="Arial"/>
                <a:cs typeface="Arial"/>
              </a:rPr>
              <a:t>adapter for WSGI deployment, static frontend parity, and coursework-ready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" y="3330416"/>
            <a:ext cx="111760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0" dirty="0">
                <a:solidFill>
                  <a:srgbClr val="A6ADBD"/>
                </a:solidFill>
                <a:latin typeface="Arial"/>
                <a:cs typeface="Arial"/>
              </a:rPr>
              <a:t>documentation.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05216" y="3807349"/>
            <a:ext cx="1010984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E10600"/>
                </a:solidFill>
                <a:latin typeface="Arial"/>
                <a:cs typeface="Arial"/>
              </a:rPr>
              <a:t>861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47266" y="4244137"/>
            <a:ext cx="1068934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Drivers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637216" y="3807349"/>
            <a:ext cx="1010984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F5A324"/>
                </a:solidFill>
                <a:latin typeface="Arial"/>
                <a:cs typeface="Arial"/>
              </a:rPr>
              <a:t>212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56076" y="4244137"/>
            <a:ext cx="992124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Teams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489194" y="3832447"/>
            <a:ext cx="1191006" cy="37401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900" b="1" dirty="0">
                <a:solidFill>
                  <a:srgbClr val="24C261"/>
                </a:solidFill>
                <a:latin typeface="Arial"/>
                <a:cs typeface="Arial"/>
              </a:rPr>
              <a:t>26,759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611266" y="4244137"/>
            <a:ext cx="1068934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Results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771511" y="3807349"/>
            <a:ext cx="9406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26B2D1"/>
                </a:solidFill>
                <a:latin typeface="Arial"/>
                <a:cs typeface="Arial"/>
              </a:rPr>
              <a:t>33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89647" y="4244137"/>
            <a:ext cx="1222553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OpenAPI ops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73806" y="3807349"/>
            <a:ext cx="870394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7054D1"/>
                </a:solidFill>
                <a:latin typeface="Arial"/>
                <a:cs typeface="Arial"/>
              </a:rPr>
              <a:t>6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598457" y="4244137"/>
            <a:ext cx="1145743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Analytics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796399" y="1877295"/>
            <a:ext cx="1151001" cy="27165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80" b="1" dirty="0">
                <a:solidFill>
                  <a:srgbClr val="F2F5FA"/>
                </a:solidFill>
                <a:latin typeface="Arial"/>
                <a:cs typeface="Arial"/>
              </a:rPr>
              <a:t>Stack</a:t>
            </a:r>
            <a:endParaRPr lang="en-US" sz="138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296400" y="2291759"/>
            <a:ext cx="1651000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Django 5.2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296400" y="2604624"/>
            <a:ext cx="1651000" cy="19291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80" b="0" dirty="0">
                <a:solidFill>
                  <a:srgbClr val="A6ADBD"/>
                </a:solidFill>
                <a:latin typeface="Arial"/>
                <a:cs typeface="Arial"/>
              </a:rPr>
              <a:t>FastAPI + Pydantic</a:t>
            </a:r>
            <a:endParaRPr lang="en-US" sz="98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296400" y="2850559"/>
            <a:ext cx="1651000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JWT + bcrypt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296400" y="3129959"/>
            <a:ext cx="1651000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collectstatic</a:t>
            </a:r>
            <a:endParaRPr lang="en-US" sz="11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812800" y="1460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12800" y="1460500"/>
            <a:ext cx="3175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4495800" y="1460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495800" y="1460500"/>
            <a:ext cx="3175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8178800" y="1460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178800" y="1460500"/>
            <a:ext cx="3175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812800" y="3238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812800" y="3238500"/>
            <a:ext cx="3175000" cy="63500"/>
          </a:xfrm>
          <a:prstGeom prst="rect">
            <a:avLst/>
          </a:prstGeom>
          <a:solidFill>
            <a:srgbClr val="26B2D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4495800" y="3238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495800" y="3238500"/>
            <a:ext cx="3175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78800" y="32385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178800" y="3238500"/>
            <a:ext cx="3175000" cy="635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cxnSp>
        <p:nvCxnSpPr>
          <p:cNvPr id="18" name="Connector 18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Submission Snapshot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What the current codebase now delivers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02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6000" y="1540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Single API core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16000" y="188604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FastAPI owns auth, CRUD, results,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16000" y="2091999"/>
            <a:ext cx="2870200" cy="2013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23" b="0" dirty="0">
                <a:solidFill>
                  <a:srgbClr val="A6ADBD"/>
                </a:solidFill>
                <a:latin typeface="Arial"/>
                <a:cs typeface="Arial"/>
              </a:rPr>
              <a:t>analytics, OpenAPI generation, and cache</a:t>
            </a:r>
            <a:endParaRPr lang="en-US" sz="1023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16000" y="2291003"/>
            <a:ext cx="2870200" cy="1943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87" b="0" dirty="0">
                <a:solidFill>
                  <a:srgbClr val="A6ADBD"/>
                </a:solidFill>
                <a:latin typeface="Arial"/>
                <a:cs typeface="Arial"/>
              </a:rPr>
              <a:t>invalidation as the single source of truth.</a:t>
            </a:r>
            <a:endParaRPr lang="en-US" sz="987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699000" y="1540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Django adapter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699000" y="1897463"/>
            <a:ext cx="2870200" cy="20310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2" b="0" dirty="0">
                <a:solidFill>
                  <a:srgbClr val="A6ADBD"/>
                </a:solidFill>
                <a:latin typeface="Arial"/>
                <a:cs typeface="Arial"/>
              </a:rPr>
              <a:t>Django serves root, docs, health, static</a:t>
            </a:r>
            <a:endParaRPr lang="en-US" sz="1032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699000" y="207908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assets, and proxies API requests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699000" y="2279422"/>
            <a:ext cx="2870200" cy="2079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6" b="0" dirty="0">
                <a:solidFill>
                  <a:srgbClr val="A6ADBD"/>
                </a:solidFill>
                <a:latin typeface="Arial"/>
                <a:cs typeface="Arial"/>
              </a:rPr>
              <a:t>in-process without duplicating business</a:t>
            </a:r>
            <a:endParaRPr lang="en-US" sz="1056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699000" y="246516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logic.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82000" y="1540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Domain coverage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82000" y="1909040"/>
            <a:ext cx="2870200" cy="1894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63" b="0" dirty="0">
                <a:solidFill>
                  <a:srgbClr val="A6ADBD"/>
                </a:solidFill>
                <a:latin typeface="Arial"/>
                <a:cs typeface="Arial"/>
              </a:rPr>
              <a:t>Drivers, teams, circuits, and races support</a:t>
            </a:r>
            <a:endParaRPr lang="en-US" sz="963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82000" y="207908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authenticated CRUD; results stay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382000" y="22721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read-only because they are historical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382000" y="246516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source data.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16000" y="3318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Analytics depth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16000" y="3675463"/>
            <a:ext cx="2870200" cy="20310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2" b="0" dirty="0">
                <a:solidFill>
                  <a:srgbClr val="A6ADBD"/>
                </a:solidFill>
                <a:latin typeface="Arial"/>
                <a:cs typeface="Arial"/>
              </a:rPr>
              <a:t>Six endpoints compute season highlights,</a:t>
            </a:r>
            <a:endParaRPr lang="en-US" sz="1032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16000" y="3860703"/>
            <a:ext cx="2870200" cy="21227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78" b="0" dirty="0">
                <a:solidFill>
                  <a:srgbClr val="A6ADBD"/>
                </a:solidFill>
                <a:latin typeface="Arial"/>
                <a:cs typeface="Arial"/>
              </a:rPr>
              <a:t>team standings, circuit history, driver</a:t>
            </a:r>
            <a:endParaRPr lang="en-US" sz="1078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16000" y="4071795"/>
            <a:ext cx="2870200" cy="191041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70" b="0" dirty="0">
                <a:solidFill>
                  <a:srgbClr val="A6ADBD"/>
                </a:solidFill>
                <a:latin typeface="Arial"/>
                <a:cs typeface="Arial"/>
              </a:rPr>
              <a:t>comparison, and head-to-head performance.</a:t>
            </a:r>
            <a:endParaRPr lang="en-US" sz="97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699000" y="3318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Security baseline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99000" y="3672130"/>
            <a:ext cx="2870200" cy="2070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2" b="0" dirty="0">
                <a:solidFill>
                  <a:srgbClr val="A6ADBD"/>
                </a:solidFill>
                <a:latin typeface="Arial"/>
                <a:cs typeface="Arial"/>
              </a:rPr>
              <a:t>JWT access and refresh tokens, bcrypt</a:t>
            </a:r>
            <a:endParaRPr lang="en-US" sz="1052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699000" y="3880007"/>
            <a:ext cx="2870200" cy="189569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63" b="0" dirty="0">
                <a:solidFill>
                  <a:srgbClr val="A6ADBD"/>
                </a:solidFill>
                <a:latin typeface="Arial"/>
                <a:cs typeface="Arial"/>
              </a:rPr>
              <a:t>hashing, active-user guards, explicit CORS,</a:t>
            </a:r>
            <a:endParaRPr lang="en-US" sz="963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699000" y="40501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and per-IP rate limiting.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382000" y="33184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Artifacts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382000" y="366404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Swagger UI, ReDoc, OpenAPI JSON,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382000" y="3868167"/>
            <a:ext cx="2870200" cy="2034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4" b="0" dirty="0">
                <a:solidFill>
                  <a:srgbClr val="A6ADBD"/>
                </a:solidFill>
                <a:latin typeface="Arial"/>
                <a:cs typeface="Arial"/>
              </a:rPr>
              <a:t>frontend dashboard, PDF documentation,</a:t>
            </a:r>
            <a:endParaRPr lang="en-US" sz="1034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382000" y="4054836"/>
            <a:ext cx="2870200" cy="2109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72" b="0" dirty="0">
                <a:solidFill>
                  <a:srgbClr val="A6ADBD"/>
                </a:solidFill>
                <a:latin typeface="Arial"/>
                <a:cs typeface="Arial"/>
              </a:rPr>
              <a:t>technical report, and this regenerated</a:t>
            </a:r>
            <a:endParaRPr lang="en-US" sz="1072" dirty="0">
              <a:latin typeface="Arial"/>
              <a:cs typeface="A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382000" y="424316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PPTX.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89000" y="5182638"/>
            <a:ext cx="11201400" cy="23783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8" b="0" dirty="0">
                <a:solidFill>
                  <a:srgbClr val="A6ADBD"/>
                </a:solidFill>
                <a:latin typeface="Arial"/>
                <a:cs typeface="Arial"/>
              </a:rPr>
              <a:t>Design focus: a coursework-sized system that stays layered, testable, and submission-ready while removing the earlier duplicate-stack</a:t>
            </a:r>
            <a:endParaRPr lang="en-US" sz="1208" dirty="0">
              <a:latin typeface="Arial"/>
              <a:cs typeface="Arial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89000" y="5395881"/>
            <a:ext cx="11201400" cy="25590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00" b="0" dirty="0">
                <a:solidFill>
                  <a:srgbClr val="A6ADBD"/>
                </a:solidFill>
                <a:latin typeface="Arial"/>
                <a:cs typeface="Arial"/>
              </a:rPr>
              <a:t>maintenance risk.</a:t>
            </a:r>
            <a:endParaRPr lang="en-US" sz="1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914400" y="1600200"/>
            <a:ext cx="2159000" cy="1066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378200" y="1600200"/>
            <a:ext cx="2159000" cy="1066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842000" y="1600200"/>
            <a:ext cx="2159000" cy="1066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305800" y="1600200"/>
            <a:ext cx="2159000" cy="1066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914400" y="3302000"/>
            <a:ext cx="4800600" cy="1828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477000" y="3302000"/>
            <a:ext cx="4800600" cy="1828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12" name="Connector 12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14" name="TextBox 14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Code Quality Refactor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How the current implementation removed the earlier maintainability deductions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03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08175" y="1608614"/>
            <a:ext cx="1063625" cy="4921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500" b="1" dirty="0">
                <a:solidFill>
                  <a:srgbClr val="E10600"/>
                </a:solidFill>
                <a:latin typeface="Arial"/>
                <a:cs typeface="Arial"/>
              </a:rPr>
              <a:t>1</a:t>
            </a:r>
            <a:endParaRPr lang="en-US" sz="2500" dirty="0">
              <a:latin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70202" y="2117515"/>
            <a:ext cx="1301598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API core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293108" y="1625346"/>
            <a:ext cx="1142492" cy="47244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400" b="1" dirty="0">
                <a:solidFill>
                  <a:srgbClr val="F5A324"/>
                </a:solidFill>
                <a:latin typeface="Arial"/>
                <a:cs typeface="Arial"/>
              </a:rPr>
              <a:t>33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012616" y="2117515"/>
            <a:ext cx="1422984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OpenAPI ops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74612" y="1625346"/>
            <a:ext cx="1224788" cy="47244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400" b="1" dirty="0">
                <a:solidFill>
                  <a:srgbClr val="24C261"/>
                </a:solidFill>
                <a:latin typeface="Arial"/>
                <a:cs typeface="Arial"/>
              </a:rPr>
              <a:t>187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76416" y="2117515"/>
            <a:ext cx="1422984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Proxy lines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38412" y="1625346"/>
            <a:ext cx="1224788" cy="47244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400" b="1" dirty="0">
                <a:solidFill>
                  <a:srgbClr val="26B2D1"/>
                </a:solidFill>
                <a:latin typeface="Arial"/>
                <a:cs typeface="Arial"/>
              </a:rPr>
              <a:t>181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778367" y="2117515"/>
            <a:ext cx="1584833" cy="2322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80" b="0" dirty="0">
                <a:solidFill>
                  <a:srgbClr val="A6ADBD"/>
                </a:solidFill>
                <a:latin typeface="Arial"/>
                <a:cs typeface="Arial"/>
              </a:rPr>
              <a:t>Automated tests</a:t>
            </a:r>
            <a:endParaRPr lang="en-US" sz="1180" dirty="0">
              <a:latin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93800" y="3482816"/>
            <a:ext cx="44196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1" dirty="0">
                <a:solidFill>
                  <a:srgbClr val="F2F5FA"/>
                </a:solidFill>
                <a:latin typeface="Arial"/>
                <a:cs typeface="Arial"/>
              </a:rPr>
              <a:t>Removed Risks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93800" y="387522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47800" y="390869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No second Django business stack to drift away from the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47800" y="410935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FastAPI implementation.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93800" y="434004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47800" y="437351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No large duplicated CRUD/auth view layer in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47800" y="457417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django_api/views.py.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93800" y="480486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447800" y="4850283"/>
            <a:ext cx="4165600" cy="19853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9" b="0" dirty="0">
                <a:solidFill>
                  <a:srgbClr val="F2F5FA"/>
                </a:solidFill>
                <a:latin typeface="Arial"/>
                <a:cs typeface="Arial"/>
              </a:rPr>
              <a:t>No separate schema/documentation path that can fall out of</a:t>
            </a:r>
            <a:endParaRPr lang="en-US" sz="1009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47800" y="5038992"/>
            <a:ext cx="10642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sync with runtime behaviour.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756400" y="3482816"/>
            <a:ext cx="44196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1" dirty="0">
                <a:solidFill>
                  <a:srgbClr val="F2F5FA"/>
                </a:solidFill>
                <a:latin typeface="Arial"/>
                <a:cs typeface="Arial"/>
              </a:rPr>
              <a:t>Current Shape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756400" y="387522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010400" y="390869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django_api/views.py is now a thin in-process proxy to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010400" y="410935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app.main:app.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756400" y="434004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010400" y="437351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Django and FastAPI share DATABASE_URL normalization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010400" y="4574172"/>
            <a:ext cx="41656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and the same OpenAPI schema source.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756400" y="4804867"/>
            <a:ext cx="44196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8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010400" y="4851544"/>
            <a:ext cx="4165600" cy="19705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1" b="0" dirty="0">
                <a:solidFill>
                  <a:srgbClr val="F2F5FA"/>
                </a:solidFill>
                <a:latin typeface="Arial"/>
                <a:cs typeface="Arial"/>
              </a:rPr>
              <a:t>Docs, acceptance checks, README, report, and slides now all</a:t>
            </a:r>
            <a:endParaRPr lang="en-US" sz="1001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010400" y="5038992"/>
            <a:ext cx="5080000" cy="2125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F2F5FA"/>
                </a:solidFill>
                <a:latin typeface="Arial"/>
                <a:cs typeface="Arial"/>
              </a:rPr>
              <a:t>describe the same architecture.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39800" y="5319869"/>
            <a:ext cx="11150600" cy="2258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47" b="0" dirty="0">
                <a:solidFill>
                  <a:srgbClr val="A6ADBD"/>
                </a:solidFill>
                <a:latin typeface="Arial"/>
                <a:cs typeface="Arial"/>
              </a:rPr>
              <a:t>Core message: the refactor did not just tidy naming. It removed duplicated runtime responsibilities and made the deployed behaviour easier to</a:t>
            </a:r>
            <a:endParaRPr lang="en-US" sz="1147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39800" y="5524897"/>
            <a:ext cx="111506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reason about, document, and verify.</a:t>
            </a:r>
            <a:endParaRPr lang="en-US" sz="1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587500"/>
            <a:ext cx="2159000" cy="889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587500"/>
            <a:ext cx="2159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2857500"/>
            <a:ext cx="2159000" cy="889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2159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4127500"/>
            <a:ext cx="2159000" cy="889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2000" y="4127500"/>
            <a:ext cx="2159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0" y="1244600"/>
            <a:ext cx="2413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810000" y="1244600"/>
            <a:ext cx="2413000" cy="63500"/>
          </a:xfrm>
          <a:prstGeom prst="rect">
            <a:avLst/>
          </a:prstGeom>
          <a:solidFill>
            <a:srgbClr val="26B2D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3810000" y="2641600"/>
            <a:ext cx="2413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810000" y="2641600"/>
            <a:ext cx="2413000" cy="635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3810000" y="4038600"/>
            <a:ext cx="2413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0000" y="4038600"/>
            <a:ext cx="2413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8" name="Rectangle 18"/>
          <p:cNvSpPr/>
          <p:nvPr/>
        </p:nvSpPr>
        <p:spPr>
          <a:xfrm>
            <a:off x="7112000" y="1244600"/>
            <a:ext cx="2159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112000" y="1244600"/>
            <a:ext cx="2159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20" name="Rectangle 20"/>
          <p:cNvSpPr/>
          <p:nvPr/>
        </p:nvSpPr>
        <p:spPr>
          <a:xfrm>
            <a:off x="7112000" y="2641600"/>
            <a:ext cx="2159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12000" y="2641600"/>
            <a:ext cx="2159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22" name="Rectangle 22"/>
          <p:cNvSpPr/>
          <p:nvPr/>
        </p:nvSpPr>
        <p:spPr>
          <a:xfrm>
            <a:off x="7112000" y="4038600"/>
            <a:ext cx="2159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112000" y="4038600"/>
            <a:ext cx="2159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24" name="Rectangle 24"/>
          <p:cNvSpPr/>
          <p:nvPr/>
        </p:nvSpPr>
        <p:spPr>
          <a:xfrm>
            <a:off x="10033000" y="2070100"/>
            <a:ext cx="1524000" cy="914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10033000" y="2070100"/>
            <a:ext cx="1524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26" name="Rectangle 26"/>
          <p:cNvSpPr/>
          <p:nvPr/>
        </p:nvSpPr>
        <p:spPr>
          <a:xfrm>
            <a:off x="10033000" y="3340100"/>
            <a:ext cx="1524000" cy="914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10033000" y="3340100"/>
            <a:ext cx="1524000" cy="635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cxnSp>
        <p:nvCxnSpPr>
          <p:cNvPr id="28" name="Connector 28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9" name="Connector 29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cxnSp>
        <p:nvCxnSpPr>
          <p:cNvPr id="30" name="Connector 30"/>
          <p:cNvCxnSpPr/>
          <p:nvPr/>
        </p:nvCxnSpPr>
        <p:spPr>
          <a:xfrm>
            <a:off x="2921000" y="2021840"/>
            <a:ext cx="8890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31" name="Connector 31"/>
          <p:cNvCxnSpPr/>
          <p:nvPr/>
        </p:nvCxnSpPr>
        <p:spPr>
          <a:xfrm>
            <a:off x="2921000" y="3291840"/>
            <a:ext cx="8890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32" name="Connector 32"/>
          <p:cNvCxnSpPr/>
          <p:nvPr/>
        </p:nvCxnSpPr>
        <p:spPr>
          <a:xfrm>
            <a:off x="2921000" y="4561840"/>
            <a:ext cx="8890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33" name="Connector 33"/>
          <p:cNvCxnSpPr/>
          <p:nvPr/>
        </p:nvCxnSpPr>
        <p:spPr>
          <a:xfrm>
            <a:off x="6223000" y="1767840"/>
            <a:ext cx="889000" cy="1016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cxnSp>
        <p:nvCxnSpPr>
          <p:cNvPr id="34" name="Connector 34"/>
          <p:cNvCxnSpPr/>
          <p:nvPr/>
        </p:nvCxnSpPr>
        <p:spPr>
          <a:xfrm>
            <a:off x="6223000" y="3164840"/>
            <a:ext cx="889000" cy="1016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cxnSp>
        <p:nvCxnSpPr>
          <p:cNvPr id="35" name="Connector 35"/>
          <p:cNvCxnSpPr/>
          <p:nvPr/>
        </p:nvCxnSpPr>
        <p:spPr>
          <a:xfrm>
            <a:off x="6223000" y="4561840"/>
            <a:ext cx="889000" cy="1016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271000" y="2540000"/>
            <a:ext cx="762000" cy="635000"/>
          </a:xfrm>
          <a:prstGeom prst="straightConnector1">
            <a:avLst/>
          </a:prstGeom>
          <a:ln w="25400">
            <a:solidFill>
              <a:srgbClr val="F5A324"/>
            </a:solidFill>
          </a:ln>
        </p:spPr>
      </p:cxnSp>
      <p:cxnSp>
        <p:nvCxnSpPr>
          <p:cNvPr id="37" name="Connector 37"/>
          <p:cNvCxnSpPr/>
          <p:nvPr/>
        </p:nvCxnSpPr>
        <p:spPr>
          <a:xfrm>
            <a:off x="9271000" y="3175000"/>
            <a:ext cx="762000" cy="635000"/>
          </a:xfrm>
          <a:prstGeom prst="straightConnector1">
            <a:avLst/>
          </a:prstGeom>
          <a:ln w="25400">
            <a:solidFill>
              <a:srgbClr val="F5A324"/>
            </a:solidFill>
          </a:ln>
        </p:spPr>
      </p:cxnSp>
      <p:cxnSp>
        <p:nvCxnSpPr>
          <p:cNvPr id="38" name="Connector 38"/>
          <p:cNvCxnSpPr/>
          <p:nvPr/>
        </p:nvCxnSpPr>
        <p:spPr>
          <a:xfrm>
            <a:off x="8191500" y="5080000"/>
            <a:ext cx="10160" cy="317500"/>
          </a:xfrm>
          <a:prstGeom prst="straightConnector1">
            <a:avLst/>
          </a:prstGeom>
          <a:ln w="25400">
            <a:solidFill>
              <a:srgbClr val="7054D1"/>
            </a:solidFill>
          </a:ln>
        </p:spPr>
      </p:cxnSp>
      <p:sp>
        <p:nvSpPr>
          <p:cNvPr id="39" name="TextBox 39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Architecture Diagram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Single FastAPI core with a thin Django deployment adapter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04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65200" y="16674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Frontend UI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65200" y="20130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Static HTML/CSS/JS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65200" y="22060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dashboard served from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65200" y="2399125"/>
            <a:ext cx="1112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/static.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65200" y="29374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Docs surface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65200" y="32830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Swagger UI, ReDoc,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65200" y="34760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OpenAPI JSON.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65200" y="42074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Direct ASGI dev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65200" y="45530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uvicorn app.main:app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65200" y="47460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--reload uses the same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65200" y="4939125"/>
            <a:ext cx="1112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API core directly.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013200" y="13245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Django adapter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013200" y="1670145"/>
            <a:ext cx="210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f1_django/settings.py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4013200" y="1868534"/>
            <a:ext cx="2108200" cy="21024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8" b="0" dirty="0">
                <a:solidFill>
                  <a:srgbClr val="A6ADBD"/>
                </a:solidFill>
                <a:latin typeface="Arial"/>
                <a:cs typeface="Arial"/>
              </a:rPr>
              <a:t>urls.py expose WSGI hosting,</a:t>
            </a:r>
            <a:endParaRPr lang="en-US" sz="1068" dirty="0">
              <a:latin typeface="Arial"/>
              <a:cs typeface="Arial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013200" y="2067830"/>
            <a:ext cx="2108200" cy="20288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1" b="0" dirty="0">
                <a:solidFill>
                  <a:srgbClr val="A6ADBD"/>
                </a:solidFill>
                <a:latin typeface="Arial"/>
                <a:cs typeface="Arial"/>
              </a:rPr>
              <a:t>static files, docs, health, and</a:t>
            </a:r>
            <a:endParaRPr lang="en-US" sz="1031" dirty="0">
              <a:latin typeface="Arial"/>
              <a:cs typeface="Arial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013200" y="2249265"/>
            <a:ext cx="807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API prefix routing.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013200" y="27215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Proxy layer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013200" y="3076441"/>
            <a:ext cx="2108200" cy="205599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44" b="0" dirty="0">
                <a:solidFill>
                  <a:srgbClr val="A6ADBD"/>
                </a:solidFill>
                <a:latin typeface="Arial"/>
                <a:cs typeface="Arial"/>
              </a:rPr>
              <a:t>django_api/views.py forwards</a:t>
            </a:r>
            <a:endParaRPr lang="en-US" sz="1044" dirty="0">
              <a:latin typeface="Arial"/>
              <a:cs typeface="Arial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013200" y="3277409"/>
            <a:ext cx="2108200" cy="196271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97" b="0" dirty="0">
                <a:solidFill>
                  <a:srgbClr val="A6ADBD"/>
                </a:solidFill>
                <a:latin typeface="Arial"/>
                <a:cs typeface="Arial"/>
              </a:rPr>
              <a:t>Django requests in-process to</a:t>
            </a:r>
            <a:endParaRPr lang="en-US" sz="997" dirty="0">
              <a:latin typeface="Arial"/>
              <a:cs typeface="Arial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4013200" y="3453225"/>
            <a:ext cx="210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app.main:app.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013200" y="41185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FastAPI routers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013200" y="4478330"/>
            <a:ext cx="2108200" cy="19984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5" b="0" dirty="0">
                <a:solidFill>
                  <a:srgbClr val="A6ADBD"/>
                </a:solidFill>
                <a:latin typeface="Arial"/>
                <a:cs typeface="Arial"/>
              </a:rPr>
              <a:t>auth, drivers, teams, circuits,</a:t>
            </a:r>
            <a:endParaRPr lang="en-US" sz="1015" dirty="0">
              <a:latin typeface="Arial"/>
              <a:cs typeface="Arial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4013200" y="4663507"/>
            <a:ext cx="2108200" cy="20909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2" b="0" dirty="0">
                <a:solidFill>
                  <a:srgbClr val="A6ADBD"/>
                </a:solidFill>
                <a:latin typeface="Arial"/>
                <a:cs typeface="Arial"/>
              </a:rPr>
              <a:t>races, results, and analytics</a:t>
            </a:r>
            <a:endParaRPr lang="en-US" sz="1062" dirty="0">
              <a:latin typeface="Arial"/>
              <a:cs typeface="Arial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4013200" y="4850225"/>
            <a:ext cx="210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live in one implementation.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7315200" y="13245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Services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7315200" y="16701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auth_service,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7315200" y="18631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analytics_service,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7315200" y="2059609"/>
            <a:ext cx="1854200" cy="21255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80" b="0" dirty="0">
                <a:solidFill>
                  <a:srgbClr val="A6ADBD"/>
                </a:solidFill>
                <a:latin typeface="Arial"/>
                <a:cs typeface="Arial"/>
              </a:rPr>
              <a:t>cache_service centralise</a:t>
            </a:r>
            <a:endParaRPr lang="en-US" sz="1080" dirty="0">
              <a:latin typeface="Arial"/>
              <a:cs typeface="Arial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7315200" y="2249265"/>
            <a:ext cx="477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behaviour behind the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7315200" y="2442305"/>
            <a:ext cx="477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routers.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7315200" y="27215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Schemas + models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7315200" y="30671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Pydantic schemas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7315200" y="3266092"/>
            <a:ext cx="1854200" cy="20958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5" b="0" dirty="0">
                <a:solidFill>
                  <a:srgbClr val="A6ADBD"/>
                </a:solidFill>
                <a:latin typeface="Arial"/>
                <a:cs typeface="Arial"/>
              </a:rPr>
              <a:t>SQLAlchemy models define</a:t>
            </a:r>
            <a:endParaRPr lang="en-US" sz="1065" dirty="0">
              <a:latin typeface="Arial"/>
              <a:cs typeface="Arial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7315200" y="3467934"/>
            <a:ext cx="1854200" cy="199231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2" b="0" dirty="0">
                <a:solidFill>
                  <a:srgbClr val="A6ADBD"/>
                </a:solidFill>
                <a:latin typeface="Arial"/>
                <a:cs typeface="Arial"/>
              </a:rPr>
              <a:t>contracts and persistence</a:t>
            </a:r>
            <a:endParaRPr lang="en-US" sz="1012" dirty="0">
              <a:latin typeface="Arial"/>
              <a:cs typeface="Arial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7315200" y="3646265"/>
            <a:ext cx="477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once.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7315200" y="4123913"/>
            <a:ext cx="1854200" cy="2731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88" b="1" dirty="0">
                <a:solidFill>
                  <a:srgbClr val="F2F5FA"/>
                </a:solidFill>
                <a:latin typeface="Arial"/>
                <a:cs typeface="Arial"/>
              </a:rPr>
              <a:t>Runtime guarantees</a:t>
            </a:r>
            <a:endParaRPr lang="en-US" sz="1388" dirty="0">
              <a:latin typeface="Arial"/>
              <a:cs typeface="Arial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315200" y="44641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OpenAPI, auth flow,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7315200" y="4666215"/>
            <a:ext cx="1854200" cy="20591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46" b="0" dirty="0">
                <a:solidFill>
                  <a:srgbClr val="A6ADBD"/>
                </a:solidFill>
                <a:latin typeface="Arial"/>
                <a:cs typeface="Arial"/>
              </a:rPr>
              <a:t>CRUD semantics come from</a:t>
            </a:r>
            <a:endParaRPr lang="en-US" sz="1046" dirty="0">
              <a:latin typeface="Arial"/>
              <a:cs typeface="Arial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7315200" y="4851596"/>
            <a:ext cx="1854200" cy="21492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92" b="0" dirty="0">
                <a:solidFill>
                  <a:srgbClr val="A6ADBD"/>
                </a:solidFill>
                <a:latin typeface="Arial"/>
                <a:cs typeface="Arial"/>
              </a:rPr>
              <a:t>the same FastAPI core in</a:t>
            </a:r>
            <a:endParaRPr lang="en-US" sz="1092" dirty="0">
              <a:latin typeface="Arial"/>
              <a:cs typeface="Arial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7315200" y="5043265"/>
            <a:ext cx="4775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every mode.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0236200" y="2196471"/>
            <a:ext cx="1219200" cy="22485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42" b="1" dirty="0">
                <a:solidFill>
                  <a:srgbClr val="F2F5FA"/>
                </a:solidFill>
                <a:latin typeface="Arial"/>
                <a:cs typeface="Arial"/>
              </a:rPr>
              <a:t>SQLite verified</a:t>
            </a:r>
            <a:endParaRPr lang="en-US" sz="1142" dirty="0">
              <a:latin typeface="Arial"/>
              <a:cs typeface="Arial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0236200" y="2495645"/>
            <a:ext cx="1219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Local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0236200" y="2688685"/>
            <a:ext cx="1219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acceptance DB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10236200" y="3477848"/>
            <a:ext cx="1219200" cy="21147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74" b="1" dirty="0">
                <a:solidFill>
                  <a:srgbClr val="F2F5FA"/>
                </a:solidFill>
                <a:latin typeface="Arial"/>
                <a:cs typeface="Arial"/>
              </a:rPr>
              <a:t>Portable DB URL</a:t>
            </a:r>
            <a:endParaRPr lang="en-US" sz="1074" dirty="0">
              <a:latin typeface="Arial"/>
              <a:cs typeface="Arial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0236200" y="3765645"/>
            <a:ext cx="1219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Future SQL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10236200" y="3958685"/>
            <a:ext cx="1219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backend path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7112000" y="5455876"/>
            <a:ext cx="4978400" cy="18532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41" b="0" dirty="0">
                <a:solidFill>
                  <a:srgbClr val="A6ADBD"/>
                </a:solidFill>
                <a:latin typeface="Arial"/>
                <a:cs typeface="Arial"/>
              </a:rPr>
              <a:t>Same FastAPI behaviour through direct ASGI use or the Django WSGI adapter</a:t>
            </a:r>
            <a:endParaRPr lang="en-US" sz="94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4927600" y="1854200"/>
            <a:ext cx="2413000" cy="231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27600" y="1854200"/>
            <a:ext cx="2413000" cy="4064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1041400" y="1206500"/>
            <a:ext cx="2286000" cy="165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041400" y="1206500"/>
            <a:ext cx="2286000" cy="4064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1041400" y="3619500"/>
            <a:ext cx="2286000" cy="165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041400" y="3619500"/>
            <a:ext cx="2286000" cy="4064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8890000" y="1206500"/>
            <a:ext cx="2286000" cy="165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8890000" y="1206500"/>
            <a:ext cx="2286000" cy="4064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8890000" y="3619500"/>
            <a:ext cx="2286000" cy="165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890000" y="3619500"/>
            <a:ext cx="2286000" cy="4064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4927600" y="4572000"/>
            <a:ext cx="2413000" cy="1397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927600" y="4572000"/>
            <a:ext cx="2413000" cy="406400"/>
          </a:xfrm>
          <a:prstGeom prst="rect">
            <a:avLst/>
          </a:prstGeom>
          <a:solidFill>
            <a:srgbClr val="26B2D1"/>
          </a:solidFill>
          <a:ln w="12700">
            <a:noFill/>
          </a:ln>
        </p:spPr>
      </p:sp>
      <p:sp>
        <p:nvSpPr>
          <p:cNvPr id="18" name="Rectangle 18"/>
          <p:cNvSpPr/>
          <p:nvPr/>
        </p:nvSpPr>
        <p:spPr>
          <a:xfrm>
            <a:off x="3759200" y="2006600"/>
            <a:ext cx="1193800" cy="3048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19" name="Rectangle 19"/>
          <p:cNvSpPr/>
          <p:nvPr/>
        </p:nvSpPr>
        <p:spPr>
          <a:xfrm>
            <a:off x="3759200" y="4292600"/>
            <a:ext cx="1168400" cy="3048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20" name="Rectangle 20"/>
          <p:cNvSpPr/>
          <p:nvPr/>
        </p:nvSpPr>
        <p:spPr>
          <a:xfrm>
            <a:off x="7467600" y="2006600"/>
            <a:ext cx="1143000" cy="3048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223500" y="2870200"/>
            <a:ext cx="1041400" cy="4318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cxnSp>
        <p:nvCxnSpPr>
          <p:cNvPr id="22" name="Connector 22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cxnSp>
        <p:nvCxnSpPr>
          <p:cNvPr id="24" name="Connector 24"/>
          <p:cNvCxnSpPr/>
          <p:nvPr/>
        </p:nvCxnSpPr>
        <p:spPr>
          <a:xfrm>
            <a:off x="3327400" y="2159000"/>
            <a:ext cx="1600200" cy="698500"/>
          </a:xfrm>
          <a:prstGeom prst="straightConnector1">
            <a:avLst/>
          </a:prstGeom>
          <a:ln w="25400">
            <a:solidFill>
              <a:srgbClr val="3880E6"/>
            </a:solidFill>
          </a:ln>
        </p:spPr>
      </p:cxnSp>
      <p:cxnSp>
        <p:nvCxnSpPr>
          <p:cNvPr id="25" name="Connector 25"/>
          <p:cNvCxnSpPr/>
          <p:nvPr/>
        </p:nvCxnSpPr>
        <p:spPr>
          <a:xfrm flipV="1">
            <a:off x="3327400" y="3556000"/>
            <a:ext cx="1600200" cy="889000"/>
          </a:xfrm>
          <a:prstGeom prst="straightConnector1">
            <a:avLst/>
          </a:prstGeom>
          <a:ln w="25400">
            <a:solidFill>
              <a:srgbClr val="7054D1"/>
            </a:solidFill>
          </a:ln>
        </p:spPr>
      </p:cxnSp>
      <p:cxnSp>
        <p:nvCxnSpPr>
          <p:cNvPr id="26" name="Connector 26"/>
          <p:cNvCxnSpPr/>
          <p:nvPr/>
        </p:nvCxnSpPr>
        <p:spPr>
          <a:xfrm flipH="1">
            <a:off x="7340600" y="2159000"/>
            <a:ext cx="1549400" cy="698500"/>
          </a:xfrm>
          <a:prstGeom prst="straightConnector1">
            <a:avLst/>
          </a:prstGeom>
          <a:ln w="25400">
            <a:solidFill>
              <a:srgbClr val="24C261"/>
            </a:solidFill>
          </a:ln>
        </p:spPr>
      </p:cxnSp>
      <p:cxnSp>
        <p:nvCxnSpPr>
          <p:cNvPr id="27" name="Connector 27"/>
          <p:cNvCxnSpPr/>
          <p:nvPr/>
        </p:nvCxnSpPr>
        <p:spPr>
          <a:xfrm>
            <a:off x="10033000" y="2857500"/>
            <a:ext cx="10160" cy="762000"/>
          </a:xfrm>
          <a:prstGeom prst="straightConnector1">
            <a:avLst/>
          </a:prstGeom>
          <a:ln w="25400">
            <a:solidFill>
              <a:srgbClr val="F5A324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Database Diagram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Star-schema style analytics around the results fact table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05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105400" y="1907715"/>
            <a:ext cx="2133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105400" y="23098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105400" y="249401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race_id FK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105400" y="26781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driver_id FK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105400" y="286231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constructor_id FK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105400" y="30464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position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105400" y="323061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position_order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105400" y="34147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points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19200" y="1260015"/>
            <a:ext cx="2006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drivers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19200" y="16621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19200" y="18463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driver_ref UNIQUE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19200" y="20304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forename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19200" y="22146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surname INDEX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19200" y="23987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nationality INDEX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19200" y="25829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code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19200" y="3673015"/>
            <a:ext cx="2006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teams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219200" y="40751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19200" y="42593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constructor_ref UNIQUE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219200" y="44434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name INDEX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19200" y="46276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nationality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219200" y="48117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url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067800" y="1260015"/>
            <a:ext cx="2006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races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067800" y="16621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067800" y="18463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year INDEX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67800" y="20304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round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067800" y="22146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circuit_id FK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9067800" y="23987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name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067800" y="25829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date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067800" y="3673015"/>
            <a:ext cx="2006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circuits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9067800" y="40751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9067800" y="42593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circuit_ref UNIQUE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9067800" y="44434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name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9067800" y="46276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location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9067800" y="481176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country INDEX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9067800" y="4995913"/>
            <a:ext cx="2006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lat / lng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5105400" y="4625515"/>
            <a:ext cx="2133600" cy="26574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5105400" y="50276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id PK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5105400" y="521181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username UNIQUE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5105400" y="53959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email UNIQUE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5105400" y="558011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hashed_password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5105400" y="5764263"/>
            <a:ext cx="2133600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is_active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3867810" y="2061969"/>
            <a:ext cx="983590" cy="173919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84" b="0" dirty="0">
                <a:solidFill>
                  <a:srgbClr val="A6ADBD"/>
                </a:solidFill>
                <a:latin typeface="Arial"/>
                <a:cs typeface="Arial"/>
              </a:rPr>
              <a:t>1 driver -&gt; many</a:t>
            </a:r>
            <a:endParaRPr lang="en-US" sz="884" dirty="0">
              <a:latin typeface="Arial"/>
              <a:cs typeface="Arial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3916147" y="4346883"/>
            <a:ext cx="909853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A6ADBD"/>
                </a:solidFill>
                <a:latin typeface="Arial"/>
                <a:cs typeface="Arial"/>
              </a:rPr>
              <a:t>1 team -&gt; many</a:t>
            </a:r>
            <a:endParaRPr lang="en-US" sz="890" dirty="0">
              <a:latin typeface="Arial"/>
              <a:cs typeface="Arial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7611847" y="2060883"/>
            <a:ext cx="897153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A6ADBD"/>
                </a:solidFill>
                <a:latin typeface="Arial"/>
                <a:cs typeface="Arial"/>
              </a:rPr>
              <a:t>1 race -&gt; many</a:t>
            </a:r>
            <a:endParaRPr lang="en-US" sz="890" dirty="0">
              <a:latin typeface="Arial"/>
              <a:cs typeface="Arial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0472623" y="2951556"/>
            <a:ext cx="690677" cy="17322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80" b="0" dirty="0">
                <a:solidFill>
                  <a:srgbClr val="A6ADBD"/>
                </a:solidFill>
                <a:latin typeface="Arial"/>
                <a:cs typeface="Arial"/>
              </a:rPr>
              <a:t>1 circuit</a:t>
            </a:r>
            <a:endParaRPr lang="en-US" sz="880" dirty="0">
              <a:latin typeface="Arial"/>
              <a:cs typeface="Arial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10351922" y="3105569"/>
            <a:ext cx="811378" cy="17133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70" b="0" dirty="0">
                <a:solidFill>
                  <a:srgbClr val="A6ADBD"/>
                </a:solidFill>
                <a:latin typeface="Arial"/>
                <a:cs typeface="Arial"/>
              </a:rPr>
              <a:t>-&gt; many races</a:t>
            </a:r>
            <a:endParaRPr lang="en-US" sz="870" dirty="0">
              <a:latin typeface="Arial"/>
              <a:cs typeface="Arial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41400" y="5468131"/>
            <a:ext cx="11049000" cy="20078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20" b="0" dirty="0">
                <a:solidFill>
                  <a:srgbClr val="A6ADBD"/>
                </a:solidFill>
                <a:latin typeface="Arial"/>
                <a:cs typeface="Arial"/>
              </a:rPr>
              <a:t>Analytics joins through results to calculate points, wins,</a:t>
            </a:r>
            <a:endParaRPr lang="en-US" sz="1020" dirty="0">
              <a:latin typeface="Arial"/>
              <a:cs typeface="Arial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041400" y="5661171"/>
            <a:ext cx="11049000" cy="20078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20" b="0" dirty="0">
                <a:solidFill>
                  <a:srgbClr val="A6ADBD"/>
                </a:solidFill>
                <a:latin typeface="Arial"/>
                <a:cs typeface="Arial"/>
              </a:rPr>
              <a:t>DNFs, champions and head-to-head outcomes.</a:t>
            </a:r>
            <a:endParaRPr lang="en-US" sz="102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889000" y="14478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89000" y="1447800"/>
            <a:ext cx="2413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3873500" y="14478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73500" y="1447800"/>
            <a:ext cx="2413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6858000" y="14478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858000" y="1447800"/>
            <a:ext cx="2413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73500" y="32512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873500" y="3251200"/>
            <a:ext cx="2413000" cy="63500"/>
          </a:xfrm>
          <a:prstGeom prst="rect">
            <a:avLst/>
          </a:prstGeom>
          <a:solidFill>
            <a:srgbClr val="26B2D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6858000" y="32512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858000" y="3251200"/>
            <a:ext cx="2413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889000" y="3251200"/>
            <a:ext cx="2413000" cy="1117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89000" y="3251200"/>
            <a:ext cx="2413000" cy="635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sp>
        <p:nvSpPr>
          <p:cNvPr id="18" name="Rectangle 18"/>
          <p:cNvSpPr/>
          <p:nvPr/>
        </p:nvSpPr>
        <p:spPr>
          <a:xfrm>
            <a:off x="9779000" y="1524000"/>
            <a:ext cx="1524000" cy="3022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19" name="Connector 19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0" name="Connector 20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3302000" y="2021840"/>
            <a:ext cx="5715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22" name="Connector 22"/>
          <p:cNvCxnSpPr/>
          <p:nvPr/>
        </p:nvCxnSpPr>
        <p:spPr>
          <a:xfrm>
            <a:off x="6286500" y="2021840"/>
            <a:ext cx="5715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8064500" y="2540000"/>
            <a:ext cx="10160" cy="698500"/>
          </a:xfrm>
          <a:prstGeom prst="straightConnector1">
            <a:avLst/>
          </a:prstGeom>
          <a:ln w="25400">
            <a:solidFill>
              <a:srgbClr val="24C261"/>
            </a:solidFill>
          </a:ln>
        </p:spPr>
      </p:cxnSp>
      <p:cxnSp>
        <p:nvCxnSpPr>
          <p:cNvPr id="24" name="Connector 24"/>
          <p:cNvCxnSpPr/>
          <p:nvPr/>
        </p:nvCxnSpPr>
        <p:spPr>
          <a:xfrm flipH="1">
            <a:off x="6286500" y="3736340"/>
            <a:ext cx="571500" cy="1016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cxnSp>
        <p:nvCxnSpPr>
          <p:cNvPr id="25" name="Connector 25"/>
          <p:cNvCxnSpPr/>
          <p:nvPr/>
        </p:nvCxnSpPr>
        <p:spPr>
          <a:xfrm flipH="1">
            <a:off x="3302000" y="3736340"/>
            <a:ext cx="571500" cy="1016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sp>
        <p:nvSpPr>
          <p:cNvPr id="26" name="TextBox 26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Security And Request Flow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JWT auth, validation, rate limiting and safe password storage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06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2200" y="15277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Register/login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2200" y="1896828"/>
            <a:ext cx="2108200" cy="1889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60" b="0" dirty="0">
                <a:solidFill>
                  <a:srgbClr val="A6ADBD"/>
                </a:solidFill>
                <a:latin typeface="Arial"/>
                <a:cs typeface="Arial"/>
              </a:rPr>
              <a:t>Validate credentials, then issue</a:t>
            </a:r>
            <a:endParaRPr lang="en-US" sz="96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92200" y="2069914"/>
            <a:ext cx="2108200" cy="20491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41" b="0" dirty="0">
                <a:solidFill>
                  <a:srgbClr val="A6ADBD"/>
                </a:solidFill>
                <a:latin typeface="Arial"/>
                <a:cs typeface="Arial"/>
              </a:rPr>
              <a:t>tokens through auth_service.</a:t>
            </a:r>
            <a:endParaRPr lang="en-US" sz="1041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076700" y="15277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bcrypt hash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076700" y="1896927"/>
            <a:ext cx="2108200" cy="18879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9" b="0" dirty="0">
                <a:solidFill>
                  <a:srgbClr val="A6ADBD"/>
                </a:solidFill>
                <a:latin typeface="Arial"/>
                <a:cs typeface="Arial"/>
              </a:rPr>
              <a:t>Passwords are stored as bcrypt</a:t>
            </a:r>
            <a:endParaRPr lang="en-US" sz="959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076700" y="206840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hashes, never plain text.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061200" y="15277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Token pair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061200" y="188171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Access token: 30 minutes.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061200" y="206840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Refresh token: 7 days.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076700" y="33311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Protected writes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076700" y="3695029"/>
            <a:ext cx="2108200" cy="19502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91" b="0" dirty="0">
                <a:solidFill>
                  <a:srgbClr val="A6ADBD"/>
                </a:solidFill>
                <a:latin typeface="Arial"/>
                <a:cs typeface="Arial"/>
              </a:rPr>
              <a:t>POST, PUT and DELETE require</a:t>
            </a:r>
            <a:endParaRPr lang="en-US" sz="991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076700" y="3875153"/>
            <a:ext cx="2108200" cy="202749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0" b="0" dirty="0">
                <a:solidFill>
                  <a:srgbClr val="A6ADBD"/>
                </a:solidFill>
                <a:latin typeface="Arial"/>
                <a:cs typeface="Arial"/>
              </a:rPr>
              <a:t>an active authenticated user.</a:t>
            </a:r>
            <a:endParaRPr lang="en-US" sz="103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061200" y="33311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Rate limit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061200" y="368511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Sliding-window per-IP limiter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061200" y="3882034"/>
            <a:ext cx="2108200" cy="19465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89" b="0" dirty="0">
                <a:solidFill>
                  <a:srgbClr val="A6ADBD"/>
                </a:solidFill>
                <a:latin typeface="Arial"/>
                <a:cs typeface="Arial"/>
              </a:rPr>
              <a:t>returns 429 with Retry-After.</a:t>
            </a:r>
            <a:endParaRPr lang="en-US" sz="989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92200" y="3331102"/>
            <a:ext cx="2108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CORS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92200" y="368511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Explicit allowed origins, not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92200" y="3871801"/>
            <a:ext cx="210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wildcard browser access.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981387" y="1679489"/>
            <a:ext cx="1220013" cy="26530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48" b="1" dirty="0">
                <a:solidFill>
                  <a:srgbClr val="F2F5FA"/>
                </a:solidFill>
                <a:latin typeface="Arial"/>
                <a:cs typeface="Arial"/>
              </a:rPr>
              <a:t>Status codes</a:t>
            </a:r>
            <a:endParaRPr lang="en-US" sz="1348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142576" y="2182863"/>
            <a:ext cx="1058824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401 invalid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106355" y="2487663"/>
            <a:ext cx="1095045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403 inactive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0106355" y="2792463"/>
            <a:ext cx="1095045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409 conflict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033914" y="3097263"/>
            <a:ext cx="1167486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422 validation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033914" y="3402063"/>
            <a:ext cx="1167486" cy="18110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20" b="0" dirty="0">
                <a:solidFill>
                  <a:srgbClr val="A6ADBD"/>
                </a:solidFill>
                <a:latin typeface="Courier New"/>
                <a:cs typeface="Courier New"/>
              </a:rPr>
              <a:t>429 rate limit</a:t>
            </a:r>
            <a:endParaRPr lang="en-US" sz="920" dirty="0">
              <a:latin typeface="Courier New"/>
              <a:cs typeface="Courier New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14400" y="5043627"/>
            <a:ext cx="11176000" cy="25196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80" b="0" dirty="0">
                <a:solidFill>
                  <a:srgbClr val="A6ADBD"/>
                </a:solidFill>
                <a:latin typeface="Arial"/>
                <a:cs typeface="Arial"/>
              </a:rPr>
              <a:t>Important detail: dummy bcrypt hashing reduces username-enumeration timing risk during login.</a:t>
            </a:r>
            <a:endParaRPr lang="en-US" sz="12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787400" y="1333500"/>
            <a:ext cx="5054600" cy="419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87400" y="1333500"/>
            <a:ext cx="5054600" cy="431800"/>
          </a:xfrm>
          <a:prstGeom prst="rect">
            <a:avLst/>
          </a:prstGeom>
          <a:solidFill>
            <a:srgbClr val="1F212B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965200" y="1511300"/>
            <a:ext cx="101600" cy="1016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9" name="Rectangle 9"/>
          <p:cNvSpPr/>
          <p:nvPr/>
        </p:nvSpPr>
        <p:spPr>
          <a:xfrm>
            <a:off x="1168400" y="1511300"/>
            <a:ext cx="101600" cy="1016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1371600" y="1511300"/>
            <a:ext cx="101600" cy="101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1" name="Rectangle 11"/>
          <p:cNvSpPr/>
          <p:nvPr/>
        </p:nvSpPr>
        <p:spPr>
          <a:xfrm>
            <a:off x="1701800" y="1473200"/>
            <a:ext cx="3886200" cy="177800"/>
          </a:xfrm>
          <a:prstGeom prst="rect">
            <a:avLst/>
          </a:prstGeom>
          <a:solidFill>
            <a:srgbClr val="0E0F14"/>
          </a:solidFill>
          <a:ln w="12700">
            <a:solidFill>
              <a:srgbClr val="3B404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87400" y="1765300"/>
            <a:ext cx="5054600" cy="3759200"/>
          </a:xfrm>
          <a:prstGeom prst="rect">
            <a:avLst/>
          </a:prstGeom>
          <a:solidFill>
            <a:srgbClr val="0A0B0F"/>
          </a:solidFill>
          <a:ln w="12700"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68400" y="3200400"/>
            <a:ext cx="3810000" cy="482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168400" y="3962400"/>
            <a:ext cx="1143000" cy="711200"/>
          </a:xfrm>
          <a:prstGeom prst="rect">
            <a:avLst/>
          </a:prstGeom>
          <a:solidFill>
            <a:srgbClr val="1F212B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489200" y="3962400"/>
            <a:ext cx="1143000" cy="711200"/>
          </a:xfrm>
          <a:prstGeom prst="rect">
            <a:avLst/>
          </a:prstGeom>
          <a:solidFill>
            <a:srgbClr val="1F212B"/>
          </a:solidFill>
          <a:ln w="12700">
            <a:solidFill>
              <a:srgbClr val="3B404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810000" y="3962400"/>
            <a:ext cx="1143000" cy="711200"/>
          </a:xfrm>
          <a:prstGeom prst="rect">
            <a:avLst/>
          </a:prstGeom>
          <a:solidFill>
            <a:srgbClr val="1F212B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350000" y="1333500"/>
            <a:ext cx="5054600" cy="4191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350000" y="1333500"/>
            <a:ext cx="5054600" cy="431800"/>
          </a:xfrm>
          <a:prstGeom prst="rect">
            <a:avLst/>
          </a:prstGeom>
          <a:solidFill>
            <a:srgbClr val="1F212B"/>
          </a:solidFill>
          <a:ln w="12700">
            <a:noFill/>
          </a:ln>
        </p:spPr>
      </p:sp>
      <p:sp>
        <p:nvSpPr>
          <p:cNvPr id="19" name="Rectangle 19"/>
          <p:cNvSpPr/>
          <p:nvPr/>
        </p:nvSpPr>
        <p:spPr>
          <a:xfrm>
            <a:off x="6527800" y="1511300"/>
            <a:ext cx="101600" cy="1016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20" name="Rectangle 20"/>
          <p:cNvSpPr/>
          <p:nvPr/>
        </p:nvSpPr>
        <p:spPr>
          <a:xfrm>
            <a:off x="6731000" y="1511300"/>
            <a:ext cx="101600" cy="1016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21" name="Rectangle 21"/>
          <p:cNvSpPr/>
          <p:nvPr/>
        </p:nvSpPr>
        <p:spPr>
          <a:xfrm>
            <a:off x="6934200" y="1511300"/>
            <a:ext cx="101600" cy="101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22" name="Rectangle 22"/>
          <p:cNvSpPr/>
          <p:nvPr/>
        </p:nvSpPr>
        <p:spPr>
          <a:xfrm>
            <a:off x="7264400" y="1473200"/>
            <a:ext cx="3886200" cy="177800"/>
          </a:xfrm>
          <a:prstGeom prst="rect">
            <a:avLst/>
          </a:prstGeom>
          <a:solidFill>
            <a:srgbClr val="0E0F14"/>
          </a:solidFill>
          <a:ln w="12700">
            <a:solidFill>
              <a:srgbClr val="3B404F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350000" y="1765300"/>
            <a:ext cx="5054600" cy="3759200"/>
          </a:xfrm>
          <a:prstGeom prst="rect">
            <a:avLst/>
          </a:prstGeom>
          <a:solidFill>
            <a:srgbClr val="0A0B0F"/>
          </a:solidFill>
          <a:ln w="12700">
            <a:noFill/>
          </a:ln>
        </p:spPr>
      </p:sp>
      <p:sp>
        <p:nvSpPr>
          <p:cNvPr id="24" name="Rectangle 24"/>
          <p:cNvSpPr/>
          <p:nvPr/>
        </p:nvSpPr>
        <p:spPr>
          <a:xfrm>
            <a:off x="6731000" y="2387600"/>
            <a:ext cx="3556000" cy="406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731000" y="3009900"/>
            <a:ext cx="1905000" cy="736600"/>
          </a:xfrm>
          <a:prstGeom prst="rect">
            <a:avLst/>
          </a:prstGeom>
          <a:solidFill>
            <a:srgbClr val="1F212B"/>
          </a:solidFill>
          <a:ln w="12700">
            <a:solidFill>
              <a:srgbClr val="E1060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890000" y="3009900"/>
            <a:ext cx="1905000" cy="736600"/>
          </a:xfrm>
          <a:prstGeom prst="rect">
            <a:avLst/>
          </a:prstGeom>
          <a:solidFill>
            <a:srgbClr val="1F212B"/>
          </a:solidFill>
          <a:ln w="12700">
            <a:solidFill>
              <a:srgbClr val="3B404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731000" y="4140200"/>
            <a:ext cx="4064000" cy="6858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28" name="Connector 28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9" name="Connector 29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Docs And Frontend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User-facing entrypoints served through the current adapter architecture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07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828800" y="1482388"/>
            <a:ext cx="3657600" cy="15354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80" b="0" dirty="0">
                <a:solidFill>
                  <a:srgbClr val="A6ADBD"/>
                </a:solidFill>
                <a:latin typeface="Courier New"/>
                <a:cs typeface="Courier New"/>
              </a:rPr>
              <a:t>http://127.0.0.1:8000/</a:t>
            </a:r>
            <a:endParaRPr lang="en-US" sz="780" dirty="0">
              <a:latin typeface="Courier New"/>
              <a:cs typeface="Courier New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68400" y="1770729"/>
            <a:ext cx="4572000" cy="53149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700" b="1" dirty="0">
                <a:solidFill>
                  <a:srgbClr val="F2F5FA"/>
                </a:solidFill>
                <a:latin typeface="Arial"/>
                <a:cs typeface="Arial"/>
              </a:rPr>
              <a:t>F1 Analytics API</a:t>
            </a:r>
            <a:endParaRPr lang="en-US" sz="270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68400" y="2327720"/>
            <a:ext cx="4572000" cy="35433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800" b="1" dirty="0">
                <a:solidFill>
                  <a:srgbClr val="E10600"/>
                </a:solidFill>
                <a:latin typeface="Arial"/>
                <a:cs typeface="Arial"/>
              </a:rPr>
              <a:t>Formula 1 Analytics API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68400" y="2821511"/>
            <a:ext cx="45720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Query race results, driver careers, team championships and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68400" y="2999311"/>
            <a:ext cx="45720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Arial"/>
                <a:cs typeface="Arial"/>
              </a:rPr>
              <a:t>head-to-head records across Formula 1 history.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97000" y="3337878"/>
            <a:ext cx="34798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A6ADBD"/>
                </a:solidFill>
                <a:latin typeface="Arial"/>
                <a:cs typeface="Arial"/>
              </a:rPr>
              <a:t>Search a driver - Hamilton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97000" y="4020550"/>
            <a:ext cx="812800" cy="3051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50" b="1" dirty="0">
                <a:solidFill>
                  <a:srgbClr val="E10600"/>
                </a:solidFill>
                <a:latin typeface="Arial"/>
                <a:cs typeface="Arial"/>
              </a:rPr>
              <a:t>861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97000" y="4371296"/>
            <a:ext cx="812800" cy="16141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20" b="0" dirty="0">
                <a:solidFill>
                  <a:srgbClr val="A6ADBD"/>
                </a:solidFill>
                <a:latin typeface="Arial"/>
                <a:cs typeface="Arial"/>
              </a:rPr>
              <a:t>Drivers</a:t>
            </a:r>
            <a:endParaRPr lang="en-US" sz="82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717800" y="4020550"/>
            <a:ext cx="812800" cy="3051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50" b="1" dirty="0">
                <a:solidFill>
                  <a:srgbClr val="F5A324"/>
                </a:solidFill>
                <a:latin typeface="Arial"/>
                <a:cs typeface="Arial"/>
              </a:rPr>
              <a:t>212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717800" y="4371296"/>
            <a:ext cx="812800" cy="16141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20" b="0" dirty="0">
                <a:solidFill>
                  <a:srgbClr val="A6ADBD"/>
                </a:solidFill>
                <a:latin typeface="Arial"/>
                <a:cs typeface="Arial"/>
              </a:rPr>
              <a:t>Teams</a:t>
            </a:r>
            <a:endParaRPr lang="en-US" sz="82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038600" y="4020550"/>
            <a:ext cx="812800" cy="3051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50" b="1" dirty="0">
                <a:solidFill>
                  <a:srgbClr val="24C261"/>
                </a:solidFill>
                <a:latin typeface="Arial"/>
                <a:cs typeface="Arial"/>
              </a:rPr>
              <a:t>77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038600" y="4371296"/>
            <a:ext cx="812800" cy="16141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20" b="0" dirty="0">
                <a:solidFill>
                  <a:srgbClr val="A6ADBD"/>
                </a:solidFill>
                <a:latin typeface="Arial"/>
                <a:cs typeface="Arial"/>
              </a:rPr>
              <a:t>Circuits</a:t>
            </a:r>
            <a:endParaRPr lang="en-US" sz="82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391400" y="1482388"/>
            <a:ext cx="3657600" cy="15354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80" b="0" dirty="0">
                <a:solidFill>
                  <a:srgbClr val="A6ADBD"/>
                </a:solidFill>
                <a:latin typeface="Courier New"/>
                <a:cs typeface="Courier New"/>
              </a:rPr>
              <a:t>http://127.0.0.1:8000/#explore</a:t>
            </a:r>
            <a:endParaRPr lang="en-US" sz="780" dirty="0">
              <a:latin typeface="Courier New"/>
              <a:cs typeface="Courier New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731000" y="1820926"/>
            <a:ext cx="4572000" cy="47244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400" b="1" dirty="0">
                <a:solidFill>
                  <a:srgbClr val="F2F5FA"/>
                </a:solidFill>
                <a:latin typeface="Arial"/>
                <a:cs typeface="Arial"/>
              </a:rPr>
              <a:t>Explore the Data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959600" y="2465911"/>
            <a:ext cx="32258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F2F5FA"/>
                </a:solidFill>
                <a:latin typeface="Arial"/>
                <a:cs typeface="Arial"/>
              </a:rPr>
              <a:t>Hamilton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934200" y="3117644"/>
            <a:ext cx="16002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E10600"/>
                </a:solidFill>
                <a:latin typeface="Courier New"/>
                <a:cs typeface="Courier New"/>
              </a:rPr>
              <a:t>HAM</a:t>
            </a:r>
            <a:endParaRPr lang="en-US" sz="950" dirty="0">
              <a:latin typeface="Courier New"/>
              <a:cs typeface="Courier New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4200" y="3329813"/>
            <a:ext cx="16002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F2F5FA"/>
                </a:solidFill>
                <a:latin typeface="Arial"/>
                <a:cs typeface="Arial"/>
              </a:rPr>
              <a:t>Lewis Hamilton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934200" y="3574844"/>
            <a:ext cx="16002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British  #44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093200" y="3117644"/>
            <a:ext cx="16002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E10600"/>
                </a:solidFill>
                <a:latin typeface="Courier New"/>
                <a:cs typeface="Courier New"/>
              </a:rPr>
              <a:t>VER</a:t>
            </a:r>
            <a:endParaRPr lang="en-US" sz="950" dirty="0">
              <a:latin typeface="Courier New"/>
              <a:cs typeface="Courier New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093200" y="3329813"/>
            <a:ext cx="16002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F2F5FA"/>
                </a:solidFill>
                <a:latin typeface="Arial"/>
                <a:cs typeface="Arial"/>
              </a:rPr>
              <a:t>Max Verstappen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093200" y="3574844"/>
            <a:ext cx="16002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Dutch  #33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959600" y="4180713"/>
            <a:ext cx="37338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F2F5FA"/>
                </a:solidFill>
                <a:latin typeface="Arial"/>
                <a:cs typeface="Arial"/>
              </a:rPr>
              <a:t>Driver detail panel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959600" y="4480878"/>
            <a:ext cx="37338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A6ADBD"/>
                </a:solidFill>
                <a:latin typeface="Arial"/>
                <a:cs typeface="Arial"/>
              </a:rPr>
              <a:t>wins, podiums, points, races, seasons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12800" y="5554028"/>
            <a:ext cx="11277600" cy="2192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14" b="0" dirty="0">
                <a:solidFill>
                  <a:srgbClr val="A6ADBD"/>
                </a:solidFill>
                <a:latin typeface="Arial"/>
                <a:cs typeface="Arial"/>
              </a:rPr>
              <a:t>The Django root page injects API_V1_PREFIX into the browser, so the static dashboard and the proxied API stay aligned under deployment-specific</a:t>
            </a:r>
            <a:endParaRPr lang="en-US" sz="1114" dirty="0">
              <a:latin typeface="Arial"/>
              <a:cs typeface="Arial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12800" y="5757126"/>
            <a:ext cx="11277600" cy="22834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60" b="0" dirty="0">
                <a:solidFill>
                  <a:srgbClr val="A6ADBD"/>
                </a:solidFill>
                <a:latin typeface="Arial"/>
                <a:cs typeface="Arial"/>
              </a:rPr>
              <a:t>route prefixes.</a:t>
            </a:r>
            <a:endParaRPr lang="en-US" sz="116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787400" y="1320800"/>
            <a:ext cx="5054600" cy="4445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87400" y="1320800"/>
            <a:ext cx="5054600" cy="431800"/>
          </a:xfrm>
          <a:prstGeom prst="rect">
            <a:avLst/>
          </a:prstGeom>
          <a:solidFill>
            <a:srgbClr val="1F212B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965200" y="1498600"/>
            <a:ext cx="101600" cy="1016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9" name="Rectangle 9"/>
          <p:cNvSpPr/>
          <p:nvPr/>
        </p:nvSpPr>
        <p:spPr>
          <a:xfrm>
            <a:off x="1168400" y="1498600"/>
            <a:ext cx="101600" cy="1016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1371600" y="1498600"/>
            <a:ext cx="101600" cy="101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1" name="Rectangle 11"/>
          <p:cNvSpPr/>
          <p:nvPr/>
        </p:nvSpPr>
        <p:spPr>
          <a:xfrm>
            <a:off x="1701800" y="1460500"/>
            <a:ext cx="3886200" cy="177800"/>
          </a:xfrm>
          <a:prstGeom prst="rect">
            <a:avLst/>
          </a:prstGeom>
          <a:solidFill>
            <a:srgbClr val="0E0F14"/>
          </a:solidFill>
          <a:ln w="12700">
            <a:solidFill>
              <a:srgbClr val="3B404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87400" y="1752600"/>
            <a:ext cx="5054600" cy="40132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</p:sp>
      <p:sp>
        <p:nvSpPr>
          <p:cNvPr id="13" name="Rectangle 13"/>
          <p:cNvSpPr/>
          <p:nvPr/>
        </p:nvSpPr>
        <p:spPr>
          <a:xfrm>
            <a:off x="1092200" y="2616200"/>
            <a:ext cx="4191000" cy="43180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244600" y="2717800"/>
            <a:ext cx="584200" cy="228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5" name="Rectangle 15"/>
          <p:cNvSpPr/>
          <p:nvPr/>
        </p:nvSpPr>
        <p:spPr>
          <a:xfrm>
            <a:off x="1092200" y="3225800"/>
            <a:ext cx="4191000" cy="43180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244600" y="3327400"/>
            <a:ext cx="584200" cy="2286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sp>
        <p:nvSpPr>
          <p:cNvPr id="17" name="Rectangle 17"/>
          <p:cNvSpPr/>
          <p:nvPr/>
        </p:nvSpPr>
        <p:spPr>
          <a:xfrm>
            <a:off x="1092200" y="3835400"/>
            <a:ext cx="4191000" cy="43180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244600" y="3937000"/>
            <a:ext cx="584200" cy="228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92200" y="4445000"/>
            <a:ext cx="4191000" cy="43180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244600" y="4546600"/>
            <a:ext cx="584200" cy="228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21" name="Rectangle 21"/>
          <p:cNvSpPr/>
          <p:nvPr/>
        </p:nvSpPr>
        <p:spPr>
          <a:xfrm>
            <a:off x="6350000" y="1320800"/>
            <a:ext cx="5054600" cy="4445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350000" y="1320800"/>
            <a:ext cx="5054600" cy="431800"/>
          </a:xfrm>
          <a:prstGeom prst="rect">
            <a:avLst/>
          </a:prstGeom>
          <a:solidFill>
            <a:srgbClr val="1F212B"/>
          </a:solidFill>
          <a:ln w="12700">
            <a:noFill/>
          </a:ln>
        </p:spPr>
      </p:sp>
      <p:sp>
        <p:nvSpPr>
          <p:cNvPr id="23" name="Rectangle 23"/>
          <p:cNvSpPr/>
          <p:nvPr/>
        </p:nvSpPr>
        <p:spPr>
          <a:xfrm>
            <a:off x="6527800" y="1498600"/>
            <a:ext cx="101600" cy="1016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24" name="Rectangle 24"/>
          <p:cNvSpPr/>
          <p:nvPr/>
        </p:nvSpPr>
        <p:spPr>
          <a:xfrm>
            <a:off x="6731000" y="1498600"/>
            <a:ext cx="101600" cy="1016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25" name="Rectangle 25"/>
          <p:cNvSpPr/>
          <p:nvPr/>
        </p:nvSpPr>
        <p:spPr>
          <a:xfrm>
            <a:off x="6934200" y="1498600"/>
            <a:ext cx="101600" cy="1016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26" name="Rectangle 26"/>
          <p:cNvSpPr/>
          <p:nvPr/>
        </p:nvSpPr>
        <p:spPr>
          <a:xfrm>
            <a:off x="7264400" y="1460500"/>
            <a:ext cx="3886200" cy="177800"/>
          </a:xfrm>
          <a:prstGeom prst="rect">
            <a:avLst/>
          </a:prstGeom>
          <a:solidFill>
            <a:srgbClr val="0E0F14"/>
          </a:solidFill>
          <a:ln w="12700">
            <a:solidFill>
              <a:srgbClr val="3B404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350000" y="1752600"/>
            <a:ext cx="5054600" cy="4013200"/>
          </a:xfrm>
          <a:prstGeom prst="rect">
            <a:avLst/>
          </a:prstGeom>
          <a:solidFill>
            <a:srgbClr val="06070A"/>
          </a:solidFill>
          <a:ln w="12700">
            <a:noFill/>
          </a:ln>
        </p:spPr>
      </p:sp>
      <p:cxnSp>
        <p:nvCxnSpPr>
          <p:cNvPr id="28" name="Connector 28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9" name="Connector 29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API Surface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OpenAPI docs and typed analytics responses from the shared FastAPI core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08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828800" y="1469688"/>
            <a:ext cx="3657600" cy="15354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80" b="0" dirty="0">
                <a:solidFill>
                  <a:srgbClr val="A6ADBD"/>
                </a:solidFill>
                <a:latin typeface="Courier New"/>
                <a:cs typeface="Courier New"/>
              </a:rPr>
              <a:t>http://127.0.0.1:8000/docs</a:t>
            </a:r>
            <a:endParaRPr lang="en-US" sz="780" dirty="0">
              <a:latin typeface="Courier New"/>
              <a:cs typeface="Courier New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92200" y="1841087"/>
            <a:ext cx="4648200" cy="37401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900" b="1" dirty="0">
                <a:solidFill>
                  <a:srgbClr val="171C24"/>
                </a:solidFill>
                <a:latin typeface="Arial"/>
                <a:cs typeface="Arial"/>
              </a:rPr>
              <a:t>F1 Analytics API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92200" y="2338911"/>
            <a:ext cx="46482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595E69"/>
                </a:solidFill>
                <a:latin typeface="Arial"/>
                <a:cs typeface="Arial"/>
              </a:rPr>
              <a:t>Swagger UI - OpenAPI 3.1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71600" y="2740660"/>
            <a:ext cx="3556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endParaRPr lang="en-US" sz="75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955800" y="2740676"/>
            <a:ext cx="3225800" cy="16732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50" b="0" dirty="0">
                <a:solidFill>
                  <a:srgbClr val="1A2129"/>
                </a:solidFill>
                <a:latin typeface="Courier New"/>
                <a:cs typeface="Courier New"/>
              </a:rPr>
              <a:t>/api/v1/drivers</a:t>
            </a:r>
            <a:endParaRPr lang="en-US" sz="850" dirty="0">
              <a:latin typeface="Courier New"/>
              <a:cs typeface="Courier New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71600" y="3350260"/>
            <a:ext cx="3556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POST</a:t>
            </a:r>
            <a:endParaRPr lang="en-US" sz="75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955800" y="3350276"/>
            <a:ext cx="3225800" cy="16732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50" b="0" dirty="0">
                <a:solidFill>
                  <a:srgbClr val="1A2129"/>
                </a:solidFill>
                <a:latin typeface="Courier New"/>
                <a:cs typeface="Courier New"/>
              </a:rPr>
              <a:t>/api/v1/auth/login</a:t>
            </a:r>
            <a:endParaRPr lang="en-US" sz="850" dirty="0">
              <a:latin typeface="Courier New"/>
              <a:cs typeface="Courier New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71600" y="3959860"/>
            <a:ext cx="3556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endParaRPr lang="en-US" sz="75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955800" y="3959876"/>
            <a:ext cx="3225800" cy="16732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50" b="0" dirty="0">
                <a:solidFill>
                  <a:srgbClr val="1A2129"/>
                </a:solidFill>
                <a:latin typeface="Courier New"/>
                <a:cs typeface="Courier New"/>
              </a:rPr>
              <a:t>/api/v1/analytics/seasons/{year}/highlights</a:t>
            </a:r>
            <a:endParaRPr lang="en-US" sz="850" dirty="0">
              <a:latin typeface="Courier New"/>
              <a:cs typeface="Courier New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71600" y="4569460"/>
            <a:ext cx="3556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endParaRPr lang="en-US" sz="75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955800" y="4582160"/>
            <a:ext cx="32258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31" b="0" dirty="0">
                <a:solidFill>
                  <a:srgbClr val="1A2129"/>
                </a:solidFill>
                <a:latin typeface="Courier New"/>
                <a:cs typeface="Courier New"/>
              </a:rPr>
              <a:t>/api/v1/analytics/drivers/{id}/head-to-head/{rival}</a:t>
            </a:r>
            <a:endParaRPr lang="en-US" sz="731" dirty="0">
              <a:latin typeface="Courier New"/>
              <a:cs typeface="Courier New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391400" y="1469688"/>
            <a:ext cx="3657600" cy="15354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80" b="0" dirty="0">
                <a:solidFill>
                  <a:srgbClr val="A6ADBD"/>
                </a:solidFill>
                <a:latin typeface="Courier New"/>
                <a:cs typeface="Courier New"/>
              </a:rPr>
              <a:t>GET /api/v1/analytics/seasons/2023/highlights</a:t>
            </a:r>
            <a:endParaRPr lang="en-US" sz="780" dirty="0">
              <a:latin typeface="Courier New"/>
              <a:cs typeface="Courier New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680200" y="1983311"/>
            <a:ext cx="46228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1" dirty="0">
                <a:solidFill>
                  <a:srgbClr val="24C261"/>
                </a:solidFill>
                <a:latin typeface="Courier New"/>
                <a:cs typeface="Courier New"/>
              </a:rPr>
              <a:t>200 OK</a:t>
            </a:r>
            <a:endParaRPr lang="en-US" sz="1050" dirty="0">
              <a:latin typeface="Courier New"/>
              <a:cs typeface="Courier New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680200" y="2338911"/>
            <a:ext cx="46228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Courier New"/>
                <a:cs typeface="Courier New"/>
              </a:rPr>
              <a:t>{</a:t>
            </a:r>
            <a:endParaRPr lang="en-US" sz="1050" dirty="0">
              <a:latin typeface="Courier New"/>
              <a:cs typeface="Courier New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883400" y="2645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"season": 2023,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883400" y="2899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"total_races": 22,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883400" y="3153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"champion_driver": {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883400" y="3407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  "name": "Max Verstappen",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883400" y="3661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  "points": 575.0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6883400" y="3915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A6ADBD"/>
                </a:solidFill>
                <a:latin typeface="Courier New"/>
                <a:cs typeface="Courier New"/>
              </a:rPr>
              <a:t>},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883400" y="4169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"champion_constructor": {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883400" y="4423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  "name": "Red Bull",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883400" y="4677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  "points": 860.0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883400" y="4931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A6ADBD"/>
                </a:solidFill>
                <a:latin typeface="Courier New"/>
                <a:cs typeface="Courier New"/>
              </a:rPr>
              <a:t>},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883400" y="5185083"/>
            <a:ext cx="4419600" cy="17519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890" b="0" dirty="0">
                <a:solidFill>
                  <a:srgbClr val="F2F5FA"/>
                </a:solidFill>
                <a:latin typeface="Courier New"/>
                <a:cs typeface="Courier New"/>
              </a:rPr>
              <a:t>"unique_race_winners": 3</a:t>
            </a:r>
            <a:endParaRPr lang="en-US" sz="890" dirty="0">
              <a:latin typeface="Courier New"/>
              <a:cs typeface="Courier New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680200" y="5412311"/>
            <a:ext cx="4622800" cy="20669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50" b="0" dirty="0">
                <a:solidFill>
                  <a:srgbClr val="A6ADBD"/>
                </a:solidFill>
                <a:latin typeface="Courier New"/>
                <a:cs typeface="Courier New"/>
              </a:rPr>
              <a:t>}</a:t>
            </a:r>
            <a:endParaRPr lang="en-US" sz="10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711200" y="1625600"/>
            <a:ext cx="1905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844800" y="1625600"/>
            <a:ext cx="1905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978400" y="1625600"/>
            <a:ext cx="1905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112000" y="1625600"/>
            <a:ext cx="19050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9245600" y="1625600"/>
            <a:ext cx="13208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0769600" y="1625600"/>
            <a:ext cx="812800" cy="1041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914400" y="3175000"/>
            <a:ext cx="5461000" cy="17780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883400" y="2971800"/>
            <a:ext cx="4445000" cy="20574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14" name="Connector 14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16" name="TextBox 16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Testing And Verification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Repository-wide evidence for the current architecture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09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23111" y="1699149"/>
            <a:ext cx="9914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26B2D1"/>
                </a:solidFill>
                <a:latin typeface="Arial"/>
                <a:cs typeface="Arial"/>
              </a:rPr>
              <a:t>13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10081" y="2135937"/>
            <a:ext cx="1004519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Auth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656711" y="1699149"/>
            <a:ext cx="9914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E10600"/>
                </a:solidFill>
                <a:latin typeface="Arial"/>
                <a:cs typeface="Arial"/>
              </a:rPr>
              <a:t>27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451657" y="2135937"/>
            <a:ext cx="1196543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Analytics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790311" y="1699149"/>
            <a:ext cx="9914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F5A324"/>
                </a:solidFill>
                <a:latin typeface="Arial"/>
                <a:cs typeface="Arial"/>
              </a:rPr>
              <a:t>72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470042" y="2135937"/>
            <a:ext cx="1311758" cy="22047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20" b="0" dirty="0">
                <a:solidFill>
                  <a:srgbClr val="A6ADBD"/>
                </a:solidFill>
                <a:latin typeface="Arial"/>
                <a:cs typeface="Arial"/>
              </a:rPr>
              <a:t>Resource API</a:t>
            </a:r>
            <a:endParaRPr lang="en-US" sz="1120" dirty="0">
              <a:latin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23911" y="1699149"/>
            <a:ext cx="9914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24C261"/>
                </a:solidFill>
                <a:latin typeface="Arial"/>
                <a:cs typeface="Arial"/>
              </a:rPr>
              <a:t>36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15987" y="2140956"/>
            <a:ext cx="1299413" cy="21456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90" b="0" dirty="0">
                <a:solidFill>
                  <a:srgbClr val="A6ADBD"/>
                </a:solidFill>
                <a:latin typeface="Arial"/>
                <a:cs typeface="Arial"/>
              </a:rPr>
              <a:t>Infra+Import</a:t>
            </a:r>
            <a:endParaRPr lang="en-US" sz="1090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65411" y="1699149"/>
            <a:ext cx="699389" cy="40354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050" b="1" dirty="0">
                <a:solidFill>
                  <a:srgbClr val="3880E6"/>
                </a:solidFill>
                <a:latin typeface="Arial"/>
                <a:cs typeface="Arial"/>
              </a:rPr>
              <a:t>13</a:t>
            </a:r>
            <a:endParaRPr lang="en-US" sz="205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606991" y="2140956"/>
            <a:ext cx="857809" cy="21456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90" b="0" dirty="0">
                <a:solidFill>
                  <a:srgbClr val="A6ADBD"/>
                </a:solidFill>
                <a:latin typeface="Arial"/>
                <a:cs typeface="Arial"/>
              </a:rPr>
              <a:t>Platform</a:t>
            </a:r>
            <a:endParaRPr lang="en-US" sz="109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001121" y="1757712"/>
            <a:ext cx="479679" cy="33464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700" b="1" dirty="0">
                <a:solidFill>
                  <a:srgbClr val="7054D1"/>
                </a:solidFill>
                <a:latin typeface="Arial"/>
                <a:cs typeface="Arial"/>
              </a:rPr>
              <a:t>181</a:t>
            </a:r>
            <a:endParaRPr lang="en-US" sz="170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73130" y="2156016"/>
            <a:ext cx="40767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A6ADBD"/>
                </a:solidFill>
                <a:latin typeface="Arial"/>
                <a:cs typeface="Arial"/>
              </a:rPr>
              <a:t>All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93800" y="3372548"/>
            <a:ext cx="5080000" cy="27559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00" b="1" dirty="0">
                <a:solidFill>
                  <a:srgbClr val="F2F5FA"/>
                </a:solidFill>
                <a:latin typeface="Arial"/>
                <a:cs typeface="Arial"/>
              </a:rPr>
              <a:t>Latest checks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193800" y="3788385"/>
            <a:ext cx="5080000" cy="2047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40" b="1" dirty="0">
                <a:solidFill>
                  <a:srgbClr val="F2F5FA"/>
                </a:solidFill>
                <a:latin typeface="Courier New"/>
                <a:cs typeface="Courier New"/>
              </a:rPr>
              <a:t>$ pytest -q</a:t>
            </a:r>
            <a:endParaRPr lang="en-US" sz="1040" dirty="0">
              <a:latin typeface="Courier New"/>
              <a:cs typeface="Courier New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93800" y="3890121"/>
            <a:ext cx="5080000" cy="38385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950" b="1" dirty="0">
                <a:solidFill>
                  <a:srgbClr val="24C261"/>
                </a:solidFill>
                <a:latin typeface="Arial"/>
                <a:cs typeface="Arial"/>
              </a:rPr>
              <a:t>181 passed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93800" y="4397985"/>
            <a:ext cx="5080000" cy="2047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40" b="1" dirty="0">
                <a:solidFill>
                  <a:srgbClr val="F2F5FA"/>
                </a:solidFill>
                <a:latin typeface="Courier New"/>
                <a:cs typeface="Courier New"/>
              </a:rPr>
              <a:t>$ python manage.py check</a:t>
            </a:r>
            <a:endParaRPr lang="en-US" sz="1040" dirty="0">
              <a:latin typeface="Courier New"/>
              <a:cs typeface="Courier New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93800" y="4644990"/>
            <a:ext cx="5080000" cy="18307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30" b="1" dirty="0">
                <a:solidFill>
                  <a:srgbClr val="F2F5FA"/>
                </a:solidFill>
                <a:latin typeface="Courier New"/>
                <a:cs typeface="Courier New"/>
              </a:rPr>
              <a:t>$ python scripts/django_openapi.py --file /tmp/f1_openapi.json</a:t>
            </a:r>
            <a:endParaRPr lang="en-US" sz="930" dirty="0">
              <a:latin typeface="Courier New"/>
              <a:cs typeface="Courier New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88200" y="3143948"/>
            <a:ext cx="4038600" cy="27559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00" b="1" dirty="0">
                <a:solidFill>
                  <a:srgbClr val="F2F5FA"/>
                </a:solidFill>
                <a:latin typeface="Arial"/>
                <a:cs typeface="Arial"/>
              </a:rPr>
              <a:t>Acceptance coverage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188200" y="3531340"/>
            <a:ext cx="4038600" cy="2381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1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1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442200" y="3564804"/>
            <a:ext cx="37846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Django Client exercises the adapter path: root, docs,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42200" y="3756574"/>
            <a:ext cx="37846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OpenAPI, static assets, and health.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188200" y="3978380"/>
            <a:ext cx="4038600" cy="2381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1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1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442200" y="4012484"/>
            <a:ext cx="3784600" cy="19806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6" b="0" dirty="0">
                <a:solidFill>
                  <a:srgbClr val="F2F5FA"/>
                </a:solidFill>
                <a:latin typeface="Arial"/>
                <a:cs typeface="Arial"/>
              </a:rPr>
              <a:t>Register, form login, JSON login, refresh, auth/me, and</a:t>
            </a:r>
            <a:endParaRPr lang="en-US" sz="1006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442200" y="4203614"/>
            <a:ext cx="37846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protected writes all pass.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188200" y="4425420"/>
            <a:ext cx="4038600" cy="2381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1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10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442200" y="4476392"/>
            <a:ext cx="3784600" cy="178221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05" b="0" dirty="0">
                <a:solidFill>
                  <a:srgbClr val="F2F5FA"/>
                </a:solidFill>
                <a:latin typeface="Arial"/>
                <a:cs typeface="Arial"/>
              </a:rPr>
              <a:t>Drivers, teams, circuits, races, results, and all six analytics</a:t>
            </a:r>
            <a:endParaRPr lang="en-US" sz="905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442200" y="4650654"/>
            <a:ext cx="37846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endpoints are covered.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188200" y="4872460"/>
            <a:ext cx="4902200" cy="23818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1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1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442200" y="4905924"/>
            <a:ext cx="46482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A temporary SQLite copy is used so verification never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442200" y="5097694"/>
            <a:ext cx="4648200" cy="19881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10" b="0" dirty="0">
                <a:solidFill>
                  <a:srgbClr val="F2F5FA"/>
                </a:solidFill>
                <a:latin typeface="Arial"/>
                <a:cs typeface="Arial"/>
              </a:rPr>
              <a:t>mutates the main local database.</a:t>
            </a:r>
            <a:endParaRPr lang="en-US" sz="1010" dirty="0">
              <a:latin typeface="Arial"/>
              <a:cs typeface="A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14400" y="5320018"/>
            <a:ext cx="11176000" cy="22562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46" b="0" dirty="0">
                <a:solidFill>
                  <a:srgbClr val="A6ADBD"/>
                </a:solidFill>
                <a:latin typeface="Arial"/>
                <a:cs typeface="Arial"/>
              </a:rPr>
              <a:t>Testing now demonstrates both dimensions of the submission: direct code quality through pytest and deployment behaviour through the Django</a:t>
            </a:r>
            <a:endParaRPr lang="en-US" sz="1146" dirty="0">
              <a:latin typeface="Arial"/>
              <a:cs typeface="A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14400" y="5526913"/>
            <a:ext cx="111760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0" dirty="0">
                <a:solidFill>
                  <a:srgbClr val="A6ADBD"/>
                </a:solidFill>
                <a:latin typeface="Arial"/>
                <a:cs typeface="Arial"/>
              </a:rPr>
              <a:t>acceptance suite.</a:t>
            </a: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889000" y="1866900"/>
            <a:ext cx="2032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89000" y="1866900"/>
            <a:ext cx="2032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3429000" y="1866900"/>
            <a:ext cx="2032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429000" y="1866900"/>
            <a:ext cx="2032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5969000" y="1866900"/>
            <a:ext cx="2032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969000" y="1866900"/>
            <a:ext cx="2032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8509000" y="1866900"/>
            <a:ext cx="2159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8509000" y="1866900"/>
            <a:ext cx="2159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3429000" y="3771900"/>
            <a:ext cx="2032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429000" y="3771900"/>
            <a:ext cx="2032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5969000" y="3771900"/>
            <a:ext cx="2159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969000" y="3771900"/>
            <a:ext cx="2159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8" name="Rectangle 18"/>
          <p:cNvSpPr/>
          <p:nvPr/>
        </p:nvSpPr>
        <p:spPr>
          <a:xfrm>
            <a:off x="8636000" y="3771900"/>
            <a:ext cx="2032000" cy="990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636000" y="3771900"/>
            <a:ext cx="2032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20" name="Rectangle 20"/>
          <p:cNvSpPr/>
          <p:nvPr/>
        </p:nvSpPr>
        <p:spPr>
          <a:xfrm>
            <a:off x="914400" y="3860800"/>
            <a:ext cx="4597400" cy="16256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cxnSp>
        <p:nvCxnSpPr>
          <p:cNvPr id="21" name="Connector 21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22" name="Connector 22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2921000" y="2352040"/>
            <a:ext cx="508000" cy="10160"/>
          </a:xfrm>
          <a:prstGeom prst="straightConnector1">
            <a:avLst/>
          </a:prstGeom>
          <a:ln w="25400">
            <a:solidFill>
              <a:srgbClr val="E10600"/>
            </a:solidFill>
          </a:ln>
        </p:spPr>
      </p:cxnSp>
      <p:cxnSp>
        <p:nvCxnSpPr>
          <p:cNvPr id="24" name="Connector 24"/>
          <p:cNvCxnSpPr/>
          <p:nvPr/>
        </p:nvCxnSpPr>
        <p:spPr>
          <a:xfrm>
            <a:off x="5461000" y="2352040"/>
            <a:ext cx="508000" cy="10160"/>
          </a:xfrm>
          <a:prstGeom prst="straightConnector1">
            <a:avLst/>
          </a:prstGeom>
          <a:ln w="25400">
            <a:solidFill>
              <a:srgbClr val="F5A324"/>
            </a:solidFill>
          </a:ln>
        </p:spPr>
      </p:cxnSp>
      <p:cxnSp>
        <p:nvCxnSpPr>
          <p:cNvPr id="25" name="Connector 25"/>
          <p:cNvCxnSpPr/>
          <p:nvPr/>
        </p:nvCxnSpPr>
        <p:spPr>
          <a:xfrm>
            <a:off x="8001000" y="2352040"/>
            <a:ext cx="508000" cy="10160"/>
          </a:xfrm>
          <a:prstGeom prst="straightConnector1">
            <a:avLst/>
          </a:prstGeom>
          <a:ln w="25400">
            <a:solidFill>
              <a:srgbClr val="7054D1"/>
            </a:solidFill>
          </a:ln>
        </p:spPr>
      </p:cxnSp>
      <p:cxnSp>
        <p:nvCxnSpPr>
          <p:cNvPr id="26" name="Connector 26"/>
          <p:cNvCxnSpPr/>
          <p:nvPr/>
        </p:nvCxnSpPr>
        <p:spPr>
          <a:xfrm>
            <a:off x="4445000" y="2857500"/>
            <a:ext cx="10160" cy="914400"/>
          </a:xfrm>
          <a:prstGeom prst="straightConnector1">
            <a:avLst/>
          </a:prstGeom>
          <a:ln w="25400">
            <a:solidFill>
              <a:srgbClr val="7054D1"/>
            </a:solidFill>
          </a:ln>
        </p:spPr>
      </p:cxnSp>
      <p:cxnSp>
        <p:nvCxnSpPr>
          <p:cNvPr id="27" name="Connector 27"/>
          <p:cNvCxnSpPr/>
          <p:nvPr/>
        </p:nvCxnSpPr>
        <p:spPr>
          <a:xfrm>
            <a:off x="6985000" y="2857500"/>
            <a:ext cx="10160" cy="914400"/>
          </a:xfrm>
          <a:prstGeom prst="straightConnector1">
            <a:avLst/>
          </a:prstGeom>
          <a:ln w="25400">
            <a:solidFill>
              <a:srgbClr val="24C261"/>
            </a:solidFill>
          </a:ln>
        </p:spPr>
      </p:cxnSp>
      <p:cxnSp>
        <p:nvCxnSpPr>
          <p:cNvPr id="28" name="Connector 28"/>
          <p:cNvCxnSpPr/>
          <p:nvPr/>
        </p:nvCxnSpPr>
        <p:spPr>
          <a:xfrm>
            <a:off x="9588500" y="2857500"/>
            <a:ext cx="63500" cy="914400"/>
          </a:xfrm>
          <a:prstGeom prst="straightConnector1">
            <a:avLst/>
          </a:prstGeom>
          <a:ln w="25400">
            <a:solidFill>
              <a:srgbClr val="26B2D1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Runtime Modes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Direct ASGI development and Django WSGI deployment share the same API core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10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92200" y="1946802"/>
            <a:ext cx="1727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Configure .env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92200" y="229244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DATABASE_URL,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92200" y="248548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SECRET_KEY, hosts,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92200" y="2678525"/>
            <a:ext cx="1099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and API_V1_PREFIX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632200" y="1946802"/>
            <a:ext cx="1727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Shared schema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632200" y="2302876"/>
            <a:ext cx="1727200" cy="20426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38" b="0" dirty="0">
                <a:solidFill>
                  <a:srgbClr val="A6ADBD"/>
                </a:solidFill>
                <a:latin typeface="Arial"/>
                <a:cs typeface="Arial"/>
              </a:rPr>
              <a:t>scripts/django_openapi.</a:t>
            </a:r>
            <a:endParaRPr lang="en-US" sz="1038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632200" y="2489637"/>
            <a:ext cx="1727200" cy="211651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75" b="0" dirty="0">
                <a:solidFill>
                  <a:srgbClr val="A6ADBD"/>
                </a:solidFill>
                <a:latin typeface="Arial"/>
                <a:cs typeface="Arial"/>
              </a:rPr>
              <a:t>py exports the FastAPI</a:t>
            </a:r>
            <a:endParaRPr lang="en-US" sz="1075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632200" y="2678525"/>
            <a:ext cx="845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schema used at runtime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172200" y="1946802"/>
            <a:ext cx="1727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Direct ASGI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172200" y="229244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uvicorn app.main:app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172200" y="248548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--reload for local API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172200" y="2678525"/>
            <a:ext cx="591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development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712200" y="19468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Django adapter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712200" y="22924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manage.py migrate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712200" y="24854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--fake-initial plus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712200" y="2678525"/>
            <a:ext cx="337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collectstatic for WSGI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712200" y="2871565"/>
            <a:ext cx="337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hosting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3632200" y="3851802"/>
            <a:ext cx="1727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WSGI entrypoint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632200" y="419744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f1_django.wsgi for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3632200" y="439048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PythonAnywhere-style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632200" y="4583525"/>
            <a:ext cx="17780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deployment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172200" y="3851802"/>
            <a:ext cx="1854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Prefix-aware UI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172200" y="419744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root_index injects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172200" y="4390485"/>
            <a:ext cx="1854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API_V1_PREFIX into the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172200" y="4583525"/>
            <a:ext cx="5918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static frontend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839200" y="3851802"/>
            <a:ext cx="1727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Same behaviour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839200" y="419744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Docs, auth, CRUD,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839200" y="4390485"/>
            <a:ext cx="1727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analytics, and OpenAPI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8839200" y="4583525"/>
            <a:ext cx="3251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stay aligned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7772400" y="5204460"/>
            <a:ext cx="4318000" cy="15240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710" b="0" dirty="0">
                <a:solidFill>
                  <a:srgbClr val="A6ADBD"/>
                </a:solidFill>
                <a:latin typeface="Arial"/>
                <a:cs typeface="Arial"/>
              </a:rPr>
              <a:t>Development and deployment are different shells around the same FastAPI implementation</a:t>
            </a:r>
            <a:endParaRPr lang="en-US" sz="710" dirty="0">
              <a:latin typeface="Arial"/>
              <a:cs typeface="Arial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193800" y="3973481"/>
            <a:ext cx="4216400" cy="25590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300" b="1" dirty="0">
                <a:solidFill>
                  <a:srgbClr val="F2F5FA"/>
                </a:solidFill>
                <a:latin typeface="Arial"/>
                <a:cs typeface="Arial"/>
              </a:rPr>
              <a:t>Operational notes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193800" y="4295013"/>
            <a:ext cx="42164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447800" y="4328478"/>
            <a:ext cx="39624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F2F5FA"/>
                </a:solidFill>
                <a:latin typeface="Arial"/>
                <a:cs typeface="Arial"/>
              </a:rPr>
              <a:t>Django deployment adopts existing tables with migrate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447800" y="4518978"/>
            <a:ext cx="39624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F2F5FA"/>
                </a:solidFill>
                <a:latin typeface="Arial"/>
                <a:cs typeface="Arial"/>
              </a:rPr>
              <a:t>--fake-initial rather than re-implementing schema logic.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93800" y="4739513"/>
            <a:ext cx="42164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447800" y="4782002"/>
            <a:ext cx="3962400" cy="18623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46" b="0" dirty="0">
                <a:solidFill>
                  <a:srgbClr val="F2F5FA"/>
                </a:solidFill>
                <a:latin typeface="Arial"/>
                <a:cs typeface="Arial"/>
              </a:rPr>
              <a:t>The shared importer and direct FastAPI path continue to use</a:t>
            </a:r>
            <a:endParaRPr lang="en-US" sz="946" dirty="0">
              <a:latin typeface="Arial"/>
              <a:cs typeface="Arial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447800" y="4963478"/>
            <a:ext cx="39624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F2F5FA"/>
                </a:solidFill>
                <a:latin typeface="Arial"/>
                <a:cs typeface="Arial"/>
              </a:rPr>
              <a:t>the same SQLAlchemy models and services.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193800" y="5184013"/>
            <a:ext cx="4216400" cy="23622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00" b="1" dirty="0">
                <a:solidFill>
                  <a:srgbClr val="E10600"/>
                </a:solidFill>
                <a:latin typeface="Arial"/>
                <a:cs typeface="Arial"/>
              </a:rPr>
              <a:t>-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447800" y="5217478"/>
            <a:ext cx="39624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F2F5FA"/>
                </a:solidFill>
                <a:latin typeface="Arial"/>
                <a:cs typeface="Arial"/>
              </a:rPr>
              <a:t>STATIC_ROOT and API_V1_PREFIX keep the browser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447800" y="5407978"/>
            <a:ext cx="10642600" cy="19685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00" b="0" dirty="0">
                <a:solidFill>
                  <a:srgbClr val="F2F5FA"/>
                </a:solidFill>
                <a:latin typeface="Arial"/>
                <a:cs typeface="Arial"/>
              </a:rPr>
              <a:t>experience aligned with the adapter route layout.</a:t>
            </a:r>
            <a:endParaRPr lang="en-US" sz="1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12700"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1"/>
          </a:solidFill>
          <a:ln w="12700"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5" name="Rectangle 5"/>
          <p:cNvSpPr/>
          <p:nvPr/>
        </p:nvSpPr>
        <p:spPr>
          <a:xfrm>
            <a:off x="9652000" y="0"/>
            <a:ext cx="2540000" cy="2286000"/>
          </a:xfrm>
          <a:prstGeom prst="rect">
            <a:avLst/>
          </a:prstGeom>
          <a:solidFill>
            <a:srgbClr val="140809"/>
          </a:solidFill>
          <a:ln w="12700">
            <a:noFill/>
          </a:ln>
        </p:spPr>
      </p:sp>
      <p:sp>
        <p:nvSpPr>
          <p:cNvPr id="6" name="Rectangle 6"/>
          <p:cNvSpPr/>
          <p:nvPr/>
        </p:nvSpPr>
        <p:spPr>
          <a:xfrm>
            <a:off x="914400" y="14351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14400" y="1435100"/>
            <a:ext cx="3175000" cy="63500"/>
          </a:xfrm>
          <a:prstGeom prst="rect">
            <a:avLst/>
          </a:prstGeom>
          <a:solidFill>
            <a:srgbClr val="26B2D1"/>
          </a:solidFill>
          <a:ln w="12700">
            <a:noFill/>
          </a:ln>
        </p:spPr>
      </p:sp>
      <p:sp>
        <p:nvSpPr>
          <p:cNvPr id="8" name="Rectangle 8"/>
          <p:cNvSpPr/>
          <p:nvPr/>
        </p:nvSpPr>
        <p:spPr>
          <a:xfrm>
            <a:off x="4521200" y="14351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521200" y="1435100"/>
            <a:ext cx="3175000" cy="63500"/>
          </a:xfrm>
          <a:prstGeom prst="rect">
            <a:avLst/>
          </a:prstGeom>
          <a:solidFill>
            <a:srgbClr val="E10600"/>
          </a:solidFill>
          <a:ln w="12700">
            <a:noFill/>
          </a:ln>
        </p:spPr>
      </p:sp>
      <p:sp>
        <p:nvSpPr>
          <p:cNvPr id="10" name="Rectangle 10"/>
          <p:cNvSpPr/>
          <p:nvPr/>
        </p:nvSpPr>
        <p:spPr>
          <a:xfrm>
            <a:off x="8128000" y="14351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128000" y="1435100"/>
            <a:ext cx="3175000" cy="63500"/>
          </a:xfrm>
          <a:prstGeom prst="rect">
            <a:avLst/>
          </a:prstGeom>
          <a:solidFill>
            <a:srgbClr val="F5A324"/>
          </a:solidFill>
          <a:ln w="12700">
            <a:noFill/>
          </a:ln>
        </p:spPr>
      </p:sp>
      <p:sp>
        <p:nvSpPr>
          <p:cNvPr id="12" name="Rectangle 12"/>
          <p:cNvSpPr/>
          <p:nvPr/>
        </p:nvSpPr>
        <p:spPr>
          <a:xfrm>
            <a:off x="914400" y="32893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914400" y="3289300"/>
            <a:ext cx="3175000" cy="63500"/>
          </a:xfrm>
          <a:prstGeom prst="rect">
            <a:avLst/>
          </a:prstGeom>
          <a:solidFill>
            <a:srgbClr val="24C261"/>
          </a:solidFill>
          <a:ln w="12700">
            <a:noFill/>
          </a:ln>
        </p:spPr>
      </p:sp>
      <p:sp>
        <p:nvSpPr>
          <p:cNvPr id="14" name="Rectangle 14"/>
          <p:cNvSpPr/>
          <p:nvPr/>
        </p:nvSpPr>
        <p:spPr>
          <a:xfrm>
            <a:off x="4521200" y="32893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521200" y="3289300"/>
            <a:ext cx="3175000" cy="63500"/>
          </a:xfrm>
          <a:prstGeom prst="rect">
            <a:avLst/>
          </a:prstGeom>
          <a:solidFill>
            <a:srgbClr val="7054D1"/>
          </a:solidFill>
          <a:ln w="12700"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28000" y="3289300"/>
            <a:ext cx="3175000" cy="1206500"/>
          </a:xfrm>
          <a:prstGeom prst="rect">
            <a:avLst/>
          </a:prstGeom>
          <a:solidFill>
            <a:srgbClr val="171921"/>
          </a:solidFill>
          <a:ln w="12700">
            <a:solidFill>
              <a:srgbClr val="3B40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128000" y="3289300"/>
            <a:ext cx="3175000" cy="63500"/>
          </a:xfrm>
          <a:prstGeom prst="rect">
            <a:avLst/>
          </a:prstGeom>
          <a:solidFill>
            <a:srgbClr val="3880E6"/>
          </a:solidFill>
          <a:ln w="12700">
            <a:noFill/>
          </a:ln>
        </p:spPr>
      </p:sp>
      <p:cxnSp>
        <p:nvCxnSpPr>
          <p:cNvPr id="18" name="Connector 18"/>
          <p:cNvCxnSpPr/>
          <p:nvPr/>
        </p:nvCxnSpPr>
        <p:spPr>
          <a:xfrm>
            <a:off x="609600" y="6187440"/>
            <a:ext cx="10972800" cy="10160"/>
          </a:xfrm>
          <a:prstGeom prst="straightConnector1">
            <a:avLst/>
          </a:prstGeom>
          <a:ln w="12700">
            <a:solidFill>
              <a:srgbClr val="3B404F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609600" y="1107440"/>
            <a:ext cx="1676400" cy="10160"/>
          </a:xfrm>
          <a:prstGeom prst="straightConnector1">
            <a:avLst/>
          </a:prstGeom>
          <a:ln w="38100">
            <a:solidFill>
              <a:srgbClr val="E10600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609600" y="141097"/>
            <a:ext cx="11480800" cy="55118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2800" b="1" dirty="0">
                <a:solidFill>
                  <a:srgbClr val="F2F5FA"/>
                </a:solidFill>
                <a:latin typeface="Arial"/>
                <a:cs typeface="Arial"/>
              </a:rPr>
              <a:t>Takeaways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9600" y="705247"/>
            <a:ext cx="11480800" cy="24606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250" b="0" dirty="0">
                <a:solidFill>
                  <a:srgbClr val="A6ADBD"/>
                </a:solidFill>
                <a:latin typeface="Arial"/>
                <a:cs typeface="Arial"/>
              </a:rPr>
              <a:t>Why the regenerated deck matches the latest code more faithfully</a:t>
            </a:r>
            <a:endParaRPr lang="en-US" sz="1250" dirty="0">
              <a:latin typeface="Arial"/>
              <a:cs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9600" y="6394244"/>
            <a:ext cx="114808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1" dirty="0">
                <a:solidFill>
                  <a:srgbClr val="A6ADBD"/>
                </a:solidFill>
                <a:latin typeface="Arial"/>
                <a:cs typeface="Arial"/>
              </a:rPr>
              <a:t>F1 Analytics API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668000" y="6394244"/>
            <a:ext cx="1422400" cy="18700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50" b="0" dirty="0">
                <a:solidFill>
                  <a:srgbClr val="A6ADBD"/>
                </a:solidFill>
                <a:latin typeface="Arial"/>
                <a:cs typeface="Arial"/>
              </a:rPr>
              <a:t>11</a:t>
            </a:r>
            <a:endParaRPr lang="en-US" sz="950" dirty="0">
              <a:latin typeface="Arial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17600" y="15150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One implementation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17600" y="186064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FastAPI is the single API core for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17600" y="205368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routes, validation, OpenAPI, auth, and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17600" y="22467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analytics behaviour.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24400" y="15150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Cleaner codebase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724400" y="1865897"/>
            <a:ext cx="2870200" cy="21035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9" b="0" dirty="0">
                <a:solidFill>
                  <a:srgbClr val="A6ADBD"/>
                </a:solidFill>
                <a:latin typeface="Arial"/>
                <a:cs typeface="Arial"/>
              </a:rPr>
              <a:t>The Django layer is now a small adapter</a:t>
            </a:r>
            <a:endParaRPr lang="en-US" sz="1069" dirty="0">
              <a:latin typeface="Arial"/>
              <a:cs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724400" y="2059117"/>
            <a:ext cx="2870200" cy="21014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8" b="0" dirty="0">
                <a:solidFill>
                  <a:srgbClr val="A6ADBD"/>
                </a:solidFill>
                <a:latin typeface="Arial"/>
                <a:cs typeface="Arial"/>
              </a:rPr>
              <a:t>instead of a second parallel CRUD/auth</a:t>
            </a:r>
            <a:endParaRPr lang="en-US" sz="1068" dirty="0">
              <a:latin typeface="Arial"/>
              <a:cs typeface="Arial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24400" y="22467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stack.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31200" y="15150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Verified behaviour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31200" y="186064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pytest, schema export, and Django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31200" y="2074385"/>
            <a:ext cx="2870200" cy="192182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76" b="0" dirty="0">
                <a:solidFill>
                  <a:srgbClr val="A6ADBD"/>
                </a:solidFill>
                <a:latin typeface="Arial"/>
                <a:cs typeface="Arial"/>
              </a:rPr>
              <a:t>acceptance checks all support the current</a:t>
            </a:r>
            <a:endParaRPr lang="en-US" sz="976" dirty="0">
              <a:latin typeface="Arial"/>
              <a:cs typeface="Arial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31200" y="22467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architecture claims.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17600" y="33692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Analytical depth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17600" y="3736144"/>
            <a:ext cx="2870200" cy="19147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73" b="0" dirty="0">
                <a:solidFill>
                  <a:srgbClr val="A6ADBD"/>
                </a:solidFill>
                <a:latin typeface="Arial"/>
                <a:cs typeface="Arial"/>
              </a:rPr>
              <a:t>Season, team, circuit, and driver endpoints</a:t>
            </a:r>
            <a:endParaRPr lang="en-US" sz="973" dirty="0">
              <a:latin typeface="Arial"/>
              <a:cs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17600" y="390788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go beyond baseline CRUD and show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17600" y="41009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meaningful data modelling.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24400" y="33692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Deployment clarity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724400" y="3720814"/>
            <a:ext cx="2870200" cy="209513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4" b="0" dirty="0">
                <a:solidFill>
                  <a:srgbClr val="A6ADBD"/>
                </a:solidFill>
                <a:latin typeface="Arial"/>
                <a:cs typeface="Arial"/>
              </a:rPr>
              <a:t>Direct ASGI and Django WSGI modes are</a:t>
            </a:r>
            <a:endParaRPr lang="en-US" sz="1064" dirty="0">
              <a:latin typeface="Arial"/>
              <a:cs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724400" y="3913586"/>
            <a:ext cx="2870200" cy="209828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066" b="0" dirty="0">
                <a:solidFill>
                  <a:srgbClr val="A6ADBD"/>
                </a:solidFill>
                <a:latin typeface="Arial"/>
                <a:cs typeface="Arial"/>
              </a:rPr>
              <a:t>explained as two shells around the same</a:t>
            </a:r>
            <a:endParaRPr lang="en-US" sz="1066" dirty="0">
              <a:latin typeface="Arial"/>
              <a:cs typeface="A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724400" y="41009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core.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331200" y="3369202"/>
            <a:ext cx="2870200" cy="279527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420" b="1" dirty="0">
                <a:solidFill>
                  <a:srgbClr val="F2F5FA"/>
                </a:solidFill>
                <a:latin typeface="Arial"/>
                <a:cs typeface="Arial"/>
              </a:rPr>
              <a:t>Honest limits</a:t>
            </a:r>
            <a:endParaRPr lang="en-US" sz="1420" dirty="0">
              <a:latin typeface="Arial"/>
              <a:cs typeface="Arial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331200" y="3736069"/>
            <a:ext cx="2870200" cy="191566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73" b="0" dirty="0">
                <a:solidFill>
                  <a:srgbClr val="A6ADBD"/>
                </a:solidFill>
                <a:latin typeface="Arial"/>
                <a:cs typeface="Arial"/>
              </a:rPr>
              <a:t>State is still in-memory and SQLite remains</a:t>
            </a:r>
            <a:endParaRPr lang="en-US" sz="973" dirty="0">
              <a:latin typeface="Arial"/>
              <a:cs typeface="Arial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331200" y="3926840"/>
            <a:ext cx="2870200" cy="1942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987" b="0" dirty="0">
                <a:solidFill>
                  <a:srgbClr val="A6ADBD"/>
                </a:solidFill>
                <a:latin typeface="Arial"/>
                <a:cs typeface="Arial"/>
              </a:rPr>
              <a:t>the verified database for this coursework</a:t>
            </a:r>
            <a:endParaRPr lang="en-US" sz="987" dirty="0">
              <a:latin typeface="Arial"/>
              <a:cs typeface="Arial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331200" y="4100925"/>
            <a:ext cx="2870200" cy="2165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100" b="0" dirty="0">
                <a:solidFill>
                  <a:srgbClr val="A6ADBD"/>
                </a:solidFill>
                <a:latin typeface="Arial"/>
                <a:cs typeface="Arial"/>
              </a:rPr>
              <a:t>build.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90600" y="5184616"/>
            <a:ext cx="110998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0" dirty="0">
                <a:solidFill>
                  <a:srgbClr val="F2F5FA"/>
                </a:solidFill>
                <a:latin typeface="Arial"/>
                <a:cs typeface="Arial"/>
              </a:rPr>
              <a:t>Core message: this is not just a CRUD API. It is a refactored, documented, tested, and deployment-aware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90600" y="5438616"/>
            <a:ext cx="11099800" cy="29527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rmAutofit fontScale="60000" lnSpcReduction="20000"/>
          </a:bodyPr>
          <a:lstStyle/>
          <a:p>
            <a:pPr algn="l"/>
            <a:r>
              <a:rPr lang="en-US" sz="1500" b="0" dirty="0">
                <a:solidFill>
                  <a:srgbClr val="F2F5FA"/>
                </a:solidFill>
                <a:latin typeface="Arial"/>
                <a:cs typeface="Arial"/>
              </a:rPr>
              <a:t>analytics service whose slides now match the code that actually runs.</a:t>
            </a:r>
            <a:endParaRPr lang="en-US"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1 Analytics Theme">
  <a:themeElements>
    <a:clrScheme name="F1 Analytics">
      <a:dk1>
        <a:srgbClr val="0B0F14"/>
      </a:dk1>
      <a:lt1>
        <a:srgbClr val="FFFFFF"/>
      </a:lt1>
      <a:dk2>
        <a:srgbClr val="111827"/>
      </a:dk2>
      <a:lt2>
        <a:srgbClr val="F3F4F6"/>
      </a:lt2>
      <a:accent1>
        <a:srgbClr val="E10600"/>
      </a:accent1>
      <a:accent2>
        <a:srgbClr val="0EA5E9"/>
      </a:accent2>
      <a:accent3>
        <a:srgbClr val="22C55E"/>
      </a:accent3>
      <a:accent4>
        <a:srgbClr val="F59E0B"/>
      </a:accent4>
      <a:accent5>
        <a:srgbClr val="6366F1"/>
      </a:accent5>
      <a:accent6>
        <a:srgbClr val="A855F7"/>
      </a:accent6>
      <a:hlink>
        <a:srgbClr val="2563EB"/>
      </a:hlink>
      <a:folHlink>
        <a:srgbClr val="9333EA"/>
      </a:folHlink>
    </a:clrScheme>
    <a:fontScheme name="F1 Analytics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F1 Analytics">
      <a:fillStyleLst>
        <a:solidFill>
          <a:srgbClr val="FFFFFF"/>
        </a:solidFill>
        <a:solidFill>
          <a:srgbClr val="111827"/>
        </a:solidFill>
        <a:solidFill>
          <a:srgbClr val="E10600"/>
        </a:solidFill>
      </a:fillStyleLst>
      <a:lnStyleLst>
        <a:ln w="9525" cap="flat" cmpd="sng" algn="ctr">
          <a:solidFill>
            <a:srgbClr val="0B0F14"/>
          </a:solidFill>
          <a:prstDash val="solid"/>
        </a:ln>
        <a:ln w="25400" cap="flat" cmpd="sng" algn="ctr">
          <a:solidFill>
            <a:srgbClr val="E10600"/>
          </a:solidFill>
          <a:prstDash val="solid"/>
        </a:ln>
        <a:ln w="38100" cap="flat" cmpd="sng" algn="ctr">
          <a:solidFill>
            <a:srgbClr val="0EA5E9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0B0F14"/>
        </a:solidFill>
        <a:solidFill>
          <a:srgbClr val="1F2937"/>
        </a:solidFill>
      </a:bgFillStyleLst>
    </a:fmtScheme>
  </a:themeElements>
</a:theme>
</file>

<file path=docProps/app.xml><?xml version="1.0" encoding="utf-8"?>
<ep:Properties xmlns:ep="http://schemas.openxmlformats.org/officeDocument/2006/extended-properties" xmlns:vt="http://schemas.openxmlformats.org/officeDocument/2006/docPropsVTypes">
  <ep:Application>Microsoft PowerPoint</ep:Application>
  <ep:PresentationFormat>On-screen Show (16:9)</ep:PresentationFormat>
  <ep:Slides>11</ep:Slides>
  <ep:Notes>0</ep:Notes>
  <ep:HiddenSlides>0</ep:HiddenSlides>
  <ep:MMClips>0</ep:MMClips>
  <ep:ScaleCrop>false</ep:ScaleCrop>
  <ep:HeadingPairs>
    <vt:vector size="2" baseType="variant">
      <vt:variant>
        <vt:lpstr>Slides</vt:lpstr>
      </vt:variant>
      <vt:variant>
        <vt:i4>11</vt:i4>
      </vt:variant>
    </vt:vector>
  </ep:HeadingPairs>
  <ep:TitlesOfParts>
    <vt:vector size="11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ep:TitlesOfParts>
  <ep:Company/>
  <ep:LinksUpToDate>false</ep:LinksUpToDate>
  <ep:SharedDoc>false</ep:SharedDoc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F1 Analytics API Presentation Slides</dc:title>
  <dc:subject>XJCO3011 Coursework 1 submission slides</dc:subject>
  <dc:creator>Bochun Yuan</dc:creator>
  <cp:keywords>F1 Analytics API, coursework, presentation</cp:keywords>
  <dc:description>Submission-ready PowerPoint deck generated from the repository slide model.</dc:description>
  <cp:lastModifiedBy>Codex</cp:lastModifiedBy>
  <dcterms:created xsi:type="dcterms:W3CDTF">2026-04-21T11:21:03Z</dcterms:created>
  <dcterms:modified xsi:type="dcterms:W3CDTF">2026-04-21T11:21:03Z</dcterms:modified>
</cp:coreProperties>
</file>